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332" r:id="rId2"/>
    <p:sldId id="337" r:id="rId3"/>
    <p:sldId id="334" r:id="rId4"/>
    <p:sldId id="328" r:id="rId5"/>
    <p:sldId id="333" r:id="rId6"/>
    <p:sldId id="329" r:id="rId7"/>
    <p:sldId id="336" r:id="rId8"/>
    <p:sldId id="259" r:id="rId9"/>
    <p:sldId id="265" r:id="rId10"/>
    <p:sldId id="330" r:id="rId11"/>
    <p:sldId id="331" r:id="rId12"/>
  </p:sldIdLst>
  <p:sldSz cx="35999738" cy="18000663"/>
  <p:notesSz cx="6858000" cy="9144000"/>
  <p:custDataLst>
    <p:tags r:id="rId1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1" autoAdjust="0"/>
    <p:restoredTop sz="94660"/>
  </p:normalViewPr>
  <p:slideViewPr>
    <p:cSldViewPr snapToGrid="0">
      <p:cViewPr varScale="1">
        <p:scale>
          <a:sx n="20" d="100"/>
          <a:sy n="20" d="100"/>
        </p:scale>
        <p:origin x="237" y="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43009" y="1143000"/>
            <a:ext cx="6171982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9967" y="2945943"/>
            <a:ext cx="26999804" cy="6266897"/>
          </a:xfrm>
        </p:spPr>
        <p:txBody>
          <a:bodyPr anchor="b"/>
          <a:lstStyle>
            <a:lvl1pPr algn="ctr">
              <a:defRPr sz="1575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99967" y="9454516"/>
            <a:ext cx="26999804" cy="4345992"/>
          </a:xfrm>
        </p:spPr>
        <p:txBody>
          <a:bodyPr/>
          <a:lstStyle>
            <a:lvl1pPr marL="0" indent="0" algn="ctr">
              <a:buNone/>
              <a:defRPr sz="6300"/>
            </a:lvl1pPr>
            <a:lvl2pPr marL="1200150" indent="0" algn="ctr">
              <a:buNone/>
              <a:defRPr sz="5250"/>
            </a:lvl2pPr>
            <a:lvl3pPr marL="2400300" indent="0" algn="ctr">
              <a:buNone/>
              <a:defRPr sz="4725"/>
            </a:lvl3pPr>
            <a:lvl4pPr marL="3600450" indent="0" algn="ctr">
              <a:buNone/>
              <a:defRPr sz="4200"/>
            </a:lvl4pPr>
            <a:lvl5pPr marL="4799965" indent="0" algn="ctr">
              <a:buNone/>
              <a:defRPr sz="4200"/>
            </a:lvl5pPr>
            <a:lvl6pPr marL="6000115" indent="0" algn="ctr">
              <a:buNone/>
              <a:defRPr sz="4200"/>
            </a:lvl6pPr>
            <a:lvl7pPr marL="7200265" indent="0" algn="ctr">
              <a:buNone/>
              <a:defRPr sz="4200"/>
            </a:lvl7pPr>
            <a:lvl8pPr marL="8400415" indent="0" algn="ctr">
              <a:buNone/>
              <a:defRPr sz="4200"/>
            </a:lvl8pPr>
            <a:lvl9pPr marL="9600565" indent="0" algn="ctr">
              <a:buNone/>
              <a:defRPr sz="4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D3C5C-D5B0-460D-B62E-D8D56130B343}" type="datetime1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DA75-3C22-4B54-ACF8-63972908B48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53E3B-9724-45AC-9A32-B707F75B160B}" type="datetime1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DA75-3C22-4B54-ACF8-63972908B48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232" y="4487668"/>
            <a:ext cx="31049774" cy="7487774"/>
          </a:xfrm>
        </p:spPr>
        <p:txBody>
          <a:bodyPr anchor="b"/>
          <a:lstStyle>
            <a:lvl1pPr>
              <a:defRPr sz="1575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6232" y="12046280"/>
            <a:ext cx="31049774" cy="3937644"/>
          </a:xfrm>
        </p:spPr>
        <p:txBody>
          <a:bodyPr/>
          <a:lstStyle>
            <a:lvl1pPr marL="0" indent="0">
              <a:buNone/>
              <a:defRPr sz="6300">
                <a:solidFill>
                  <a:schemeClr val="tx1">
                    <a:tint val="75000"/>
                  </a:schemeClr>
                </a:solidFill>
              </a:defRPr>
            </a:lvl1pPr>
            <a:lvl2pPr marL="1200150" indent="0">
              <a:buNone/>
              <a:defRPr sz="5250">
                <a:solidFill>
                  <a:schemeClr val="tx1">
                    <a:tint val="75000"/>
                  </a:schemeClr>
                </a:solidFill>
              </a:defRPr>
            </a:lvl2pPr>
            <a:lvl3pPr marL="2400300" indent="0">
              <a:buNone/>
              <a:defRPr sz="4725">
                <a:solidFill>
                  <a:schemeClr val="tx1">
                    <a:tint val="75000"/>
                  </a:schemeClr>
                </a:solidFill>
              </a:defRPr>
            </a:lvl3pPr>
            <a:lvl4pPr marL="3600450" indent="0">
              <a:buNone/>
              <a:defRPr sz="4200">
                <a:solidFill>
                  <a:schemeClr val="tx1">
                    <a:tint val="75000"/>
                  </a:schemeClr>
                </a:solidFill>
              </a:defRPr>
            </a:lvl4pPr>
            <a:lvl5pPr marL="4799965" indent="0">
              <a:buNone/>
              <a:defRPr sz="4200">
                <a:solidFill>
                  <a:schemeClr val="tx1">
                    <a:tint val="75000"/>
                  </a:schemeClr>
                </a:solidFill>
              </a:defRPr>
            </a:lvl5pPr>
            <a:lvl6pPr marL="6000115" indent="0">
              <a:buNone/>
              <a:defRPr sz="4200">
                <a:solidFill>
                  <a:schemeClr val="tx1">
                    <a:tint val="75000"/>
                  </a:schemeClr>
                </a:solidFill>
              </a:defRPr>
            </a:lvl6pPr>
            <a:lvl7pPr marL="7200265" indent="0">
              <a:buNone/>
              <a:defRPr sz="4200">
                <a:solidFill>
                  <a:schemeClr val="tx1">
                    <a:tint val="75000"/>
                  </a:schemeClr>
                </a:solidFill>
              </a:defRPr>
            </a:lvl7pPr>
            <a:lvl8pPr marL="8400415" indent="0">
              <a:buNone/>
              <a:defRPr sz="4200">
                <a:solidFill>
                  <a:schemeClr val="tx1">
                    <a:tint val="75000"/>
                  </a:schemeClr>
                </a:solidFill>
              </a:defRPr>
            </a:lvl8pPr>
            <a:lvl9pPr marL="9600565" indent="0">
              <a:buNone/>
              <a:defRPr sz="4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B7AE-8424-4507-A0C9-0FBD5101F3FD}" type="datetime1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DA75-3C22-4B54-ACF8-63972908B48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4982" y="4791843"/>
            <a:ext cx="15299889" cy="1142125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24867" y="4791843"/>
            <a:ext cx="15299889" cy="1142125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AD5EA-D567-411E-8EDE-D5360D9563D4}" type="datetime1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DA75-3C22-4B54-ACF8-63972908B48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958370"/>
            <a:ext cx="31049774" cy="347929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9672" y="4412664"/>
            <a:ext cx="15229575" cy="2162578"/>
          </a:xfrm>
        </p:spPr>
        <p:txBody>
          <a:bodyPr anchor="b"/>
          <a:lstStyle>
            <a:lvl1pPr marL="0" indent="0">
              <a:buNone/>
              <a:defRPr sz="6300" b="1"/>
            </a:lvl1pPr>
            <a:lvl2pPr marL="1200150" indent="0">
              <a:buNone/>
              <a:defRPr sz="5250" b="1"/>
            </a:lvl2pPr>
            <a:lvl3pPr marL="2400300" indent="0">
              <a:buNone/>
              <a:defRPr sz="4725" b="1"/>
            </a:lvl3pPr>
            <a:lvl4pPr marL="3600450" indent="0">
              <a:buNone/>
              <a:defRPr sz="4200" b="1"/>
            </a:lvl4pPr>
            <a:lvl5pPr marL="4799965" indent="0">
              <a:buNone/>
              <a:defRPr sz="4200" b="1"/>
            </a:lvl5pPr>
            <a:lvl6pPr marL="6000115" indent="0">
              <a:buNone/>
              <a:defRPr sz="4200" b="1"/>
            </a:lvl6pPr>
            <a:lvl7pPr marL="7200265" indent="0">
              <a:buNone/>
              <a:defRPr sz="4200" b="1"/>
            </a:lvl7pPr>
            <a:lvl8pPr marL="8400415" indent="0">
              <a:buNone/>
              <a:defRPr sz="4200" b="1"/>
            </a:lvl8pPr>
            <a:lvl9pPr marL="9600565" indent="0">
              <a:buNone/>
              <a:defRPr sz="4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79672" y="6575242"/>
            <a:ext cx="15229575" cy="967119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224867" y="4412664"/>
            <a:ext cx="15304578" cy="2162578"/>
          </a:xfrm>
        </p:spPr>
        <p:txBody>
          <a:bodyPr anchor="b"/>
          <a:lstStyle>
            <a:lvl1pPr marL="0" indent="0">
              <a:buNone/>
              <a:defRPr sz="6300" b="1"/>
            </a:lvl1pPr>
            <a:lvl2pPr marL="1200150" indent="0">
              <a:buNone/>
              <a:defRPr sz="5250" b="1"/>
            </a:lvl2pPr>
            <a:lvl3pPr marL="2400300" indent="0">
              <a:buNone/>
              <a:defRPr sz="4725" b="1"/>
            </a:lvl3pPr>
            <a:lvl4pPr marL="3600450" indent="0">
              <a:buNone/>
              <a:defRPr sz="4200" b="1"/>
            </a:lvl4pPr>
            <a:lvl5pPr marL="4799965" indent="0">
              <a:buNone/>
              <a:defRPr sz="4200" b="1"/>
            </a:lvl5pPr>
            <a:lvl6pPr marL="6000115" indent="0">
              <a:buNone/>
              <a:defRPr sz="4200" b="1"/>
            </a:lvl6pPr>
            <a:lvl7pPr marL="7200265" indent="0">
              <a:buNone/>
              <a:defRPr sz="4200" b="1"/>
            </a:lvl7pPr>
            <a:lvl8pPr marL="8400415" indent="0">
              <a:buNone/>
              <a:defRPr sz="4200" b="1"/>
            </a:lvl8pPr>
            <a:lvl9pPr marL="9600565" indent="0">
              <a:buNone/>
              <a:defRPr sz="4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224867" y="6575242"/>
            <a:ext cx="15304578" cy="967119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F7DBD-4B22-4689-A899-7C68996AD839}" type="datetime1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DA75-3C22-4B54-ACF8-63972908B48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EC588-2928-4845-8FBE-BBA456AD8686}" type="datetime1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DA75-3C22-4B54-ACF8-63972908B48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1BE8C-04F2-456B-AA57-2C11A727BFE6}" type="datetime1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DA75-3C22-4B54-ACF8-63972908B48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2" y="1200044"/>
            <a:ext cx="11610852" cy="4200155"/>
          </a:xfrm>
        </p:spPr>
        <p:txBody>
          <a:bodyPr anchor="b"/>
          <a:lstStyle>
            <a:lvl1pPr>
              <a:defRPr sz="8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04578" y="2591763"/>
            <a:ext cx="18224867" cy="12792138"/>
          </a:xfrm>
        </p:spPr>
        <p:txBody>
          <a:bodyPr/>
          <a:lstStyle>
            <a:lvl1pPr>
              <a:defRPr sz="8400"/>
            </a:lvl1pPr>
            <a:lvl2pPr>
              <a:defRPr sz="7350"/>
            </a:lvl2pPr>
            <a:lvl3pPr>
              <a:defRPr sz="6300"/>
            </a:lvl3pPr>
            <a:lvl4pPr>
              <a:defRPr sz="5250"/>
            </a:lvl4pPr>
            <a:lvl5pPr>
              <a:defRPr sz="5250"/>
            </a:lvl5pPr>
            <a:lvl6pPr>
              <a:defRPr sz="5250"/>
            </a:lvl6pPr>
            <a:lvl7pPr>
              <a:defRPr sz="5250"/>
            </a:lvl7pPr>
            <a:lvl8pPr>
              <a:defRPr sz="5250"/>
            </a:lvl8pPr>
            <a:lvl9pPr>
              <a:defRPr sz="52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79672" y="5400199"/>
            <a:ext cx="11610852" cy="10004536"/>
          </a:xfrm>
        </p:spPr>
        <p:txBody>
          <a:bodyPr/>
          <a:lstStyle>
            <a:lvl1pPr marL="0" indent="0">
              <a:buNone/>
              <a:defRPr sz="4200"/>
            </a:lvl1pPr>
            <a:lvl2pPr marL="1200150" indent="0">
              <a:buNone/>
              <a:defRPr sz="3675"/>
            </a:lvl2pPr>
            <a:lvl3pPr marL="2400300" indent="0">
              <a:buNone/>
              <a:defRPr sz="3150"/>
            </a:lvl3pPr>
            <a:lvl4pPr marL="3600450" indent="0">
              <a:buNone/>
              <a:defRPr sz="2625"/>
            </a:lvl4pPr>
            <a:lvl5pPr marL="4799965" indent="0">
              <a:buNone/>
              <a:defRPr sz="2625"/>
            </a:lvl5pPr>
            <a:lvl6pPr marL="6000115" indent="0">
              <a:buNone/>
              <a:defRPr sz="2625"/>
            </a:lvl6pPr>
            <a:lvl7pPr marL="7200265" indent="0">
              <a:buNone/>
              <a:defRPr sz="2625"/>
            </a:lvl7pPr>
            <a:lvl8pPr marL="8400415" indent="0">
              <a:buNone/>
              <a:defRPr sz="2625"/>
            </a:lvl8pPr>
            <a:lvl9pPr marL="9600565" indent="0">
              <a:buNone/>
              <a:defRPr sz="262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CDD81-D7E3-4450-A16D-6173144FAAD1}" type="datetime1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DA75-3C22-4B54-ACF8-63972908B48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2" y="1200044"/>
            <a:ext cx="11610852" cy="4200155"/>
          </a:xfrm>
        </p:spPr>
        <p:txBody>
          <a:bodyPr anchor="b"/>
          <a:lstStyle>
            <a:lvl1pPr>
              <a:defRPr sz="8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304578" y="2591763"/>
            <a:ext cx="18224867" cy="12792138"/>
          </a:xfrm>
        </p:spPr>
        <p:txBody>
          <a:bodyPr anchor="t"/>
          <a:lstStyle>
            <a:lvl1pPr marL="0" indent="0">
              <a:buNone/>
              <a:defRPr sz="8400"/>
            </a:lvl1pPr>
            <a:lvl2pPr marL="1200150" indent="0">
              <a:buNone/>
              <a:defRPr sz="7350"/>
            </a:lvl2pPr>
            <a:lvl3pPr marL="2400300" indent="0">
              <a:buNone/>
              <a:defRPr sz="6300"/>
            </a:lvl3pPr>
            <a:lvl4pPr marL="3600450" indent="0">
              <a:buNone/>
              <a:defRPr sz="5250"/>
            </a:lvl4pPr>
            <a:lvl5pPr marL="4799965" indent="0">
              <a:buNone/>
              <a:defRPr sz="5250"/>
            </a:lvl5pPr>
            <a:lvl6pPr marL="6000115" indent="0">
              <a:buNone/>
              <a:defRPr sz="5250"/>
            </a:lvl6pPr>
            <a:lvl7pPr marL="7200265" indent="0">
              <a:buNone/>
              <a:defRPr sz="5250"/>
            </a:lvl7pPr>
            <a:lvl8pPr marL="8400415" indent="0">
              <a:buNone/>
              <a:defRPr sz="5250"/>
            </a:lvl8pPr>
            <a:lvl9pPr marL="9600565" indent="0">
              <a:buNone/>
              <a:defRPr sz="525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79672" y="5400199"/>
            <a:ext cx="11610852" cy="10004536"/>
          </a:xfrm>
        </p:spPr>
        <p:txBody>
          <a:bodyPr/>
          <a:lstStyle>
            <a:lvl1pPr marL="0" indent="0">
              <a:buNone/>
              <a:defRPr sz="4200"/>
            </a:lvl1pPr>
            <a:lvl2pPr marL="1200150" indent="0">
              <a:buNone/>
              <a:defRPr sz="3675"/>
            </a:lvl2pPr>
            <a:lvl3pPr marL="2400300" indent="0">
              <a:buNone/>
              <a:defRPr sz="3150"/>
            </a:lvl3pPr>
            <a:lvl4pPr marL="3600450" indent="0">
              <a:buNone/>
              <a:defRPr sz="2625"/>
            </a:lvl4pPr>
            <a:lvl5pPr marL="4799965" indent="0">
              <a:buNone/>
              <a:defRPr sz="2625"/>
            </a:lvl5pPr>
            <a:lvl6pPr marL="6000115" indent="0">
              <a:buNone/>
              <a:defRPr sz="2625"/>
            </a:lvl6pPr>
            <a:lvl7pPr marL="7200265" indent="0">
              <a:buNone/>
              <a:defRPr sz="2625"/>
            </a:lvl7pPr>
            <a:lvl8pPr marL="8400415" indent="0">
              <a:buNone/>
              <a:defRPr sz="2625"/>
            </a:lvl8pPr>
            <a:lvl9pPr marL="9600565" indent="0">
              <a:buNone/>
              <a:defRPr sz="262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BE525-994A-4EC0-9839-6334F9C2CC57}" type="datetime1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DA75-3C22-4B54-ACF8-63972908B48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297F3-1728-434D-AD5F-4D11A943D5D9}" type="datetime1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DA75-3C22-4B54-ACF8-63972908B48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762312" y="958369"/>
            <a:ext cx="7762444" cy="1525473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4982" y="958369"/>
            <a:ext cx="22837334" cy="1525473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0AC40-D47D-4203-8530-C5C3DC548572}" type="datetime1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DA75-3C22-4B54-ACF8-63972908B48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4982" y="958370"/>
            <a:ext cx="31049774" cy="34792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4982" y="4791843"/>
            <a:ext cx="31049774" cy="114212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4982" y="16683949"/>
            <a:ext cx="8099941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1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ACC7A8-BD56-4D89-A324-B22EDE0F86CF}" type="datetime1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4913" y="16683949"/>
            <a:ext cx="12149912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1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424815" y="16683949"/>
            <a:ext cx="8099941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1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30DA75-3C22-4B54-ACF8-63972908B48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2400300" rtl="0" eaLnBrk="1" latinLnBrk="0" hangingPunct="1">
        <a:lnSpc>
          <a:spcPct val="90000"/>
        </a:lnSpc>
        <a:spcBef>
          <a:spcPct val="0"/>
        </a:spcBef>
        <a:buNone/>
        <a:defRPr sz="115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00075" indent="-600075" algn="l" defTabSz="2400300" rtl="0" eaLnBrk="1" latinLnBrk="0" hangingPunct="1">
        <a:lnSpc>
          <a:spcPct val="90000"/>
        </a:lnSpc>
        <a:spcBef>
          <a:spcPts val="2625"/>
        </a:spcBef>
        <a:buFont typeface="Arial" panose="020B0604020202020204" pitchFamily="34" charset="0"/>
        <a:buChar char="•"/>
        <a:defRPr sz="7350" kern="1200">
          <a:solidFill>
            <a:schemeClr val="tx1"/>
          </a:solidFill>
          <a:latin typeface="+mn-lt"/>
          <a:ea typeface="+mn-ea"/>
          <a:cs typeface="+mn-cs"/>
        </a:defRPr>
      </a:lvl1pPr>
      <a:lvl2pPr marL="1800225" indent="-600075" algn="l" defTabSz="2400300" rtl="0" eaLnBrk="1" latinLnBrk="0" hangingPunct="1">
        <a:lnSpc>
          <a:spcPct val="90000"/>
        </a:lnSpc>
        <a:spcBef>
          <a:spcPts val="1310"/>
        </a:spcBef>
        <a:buFont typeface="Arial" panose="020B0604020202020204" pitchFamily="34" charset="0"/>
        <a:buChar char="•"/>
        <a:defRPr sz="6300" kern="1200">
          <a:solidFill>
            <a:schemeClr val="tx1"/>
          </a:solidFill>
          <a:latin typeface="+mn-lt"/>
          <a:ea typeface="+mn-ea"/>
          <a:cs typeface="+mn-cs"/>
        </a:defRPr>
      </a:lvl2pPr>
      <a:lvl3pPr marL="3000375" indent="-600075" algn="l" defTabSz="2400300" rtl="0" eaLnBrk="1" latinLnBrk="0" hangingPunct="1">
        <a:lnSpc>
          <a:spcPct val="90000"/>
        </a:lnSpc>
        <a:spcBef>
          <a:spcPts val="1310"/>
        </a:spcBef>
        <a:buFont typeface="Arial" panose="020B0604020202020204" pitchFamily="34" charset="0"/>
        <a:buChar char="•"/>
        <a:defRPr sz="5250" kern="1200">
          <a:solidFill>
            <a:schemeClr val="tx1"/>
          </a:solidFill>
          <a:latin typeface="+mn-lt"/>
          <a:ea typeface="+mn-ea"/>
          <a:cs typeface="+mn-cs"/>
        </a:defRPr>
      </a:lvl3pPr>
      <a:lvl4pPr marL="4199890" indent="-600075" algn="l" defTabSz="2400300" rtl="0" eaLnBrk="1" latinLnBrk="0" hangingPunct="1">
        <a:lnSpc>
          <a:spcPct val="90000"/>
        </a:lnSpc>
        <a:spcBef>
          <a:spcPts val="1310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4pPr>
      <a:lvl5pPr marL="5400040" indent="-600075" algn="l" defTabSz="2400300" rtl="0" eaLnBrk="1" latinLnBrk="0" hangingPunct="1">
        <a:lnSpc>
          <a:spcPct val="90000"/>
        </a:lnSpc>
        <a:spcBef>
          <a:spcPts val="1310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5pPr>
      <a:lvl6pPr marL="6600190" indent="-600075" algn="l" defTabSz="2400300" rtl="0" eaLnBrk="1" latinLnBrk="0" hangingPunct="1">
        <a:lnSpc>
          <a:spcPct val="90000"/>
        </a:lnSpc>
        <a:spcBef>
          <a:spcPts val="1310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6pPr>
      <a:lvl7pPr marL="7800340" indent="-600075" algn="l" defTabSz="2400300" rtl="0" eaLnBrk="1" latinLnBrk="0" hangingPunct="1">
        <a:lnSpc>
          <a:spcPct val="90000"/>
        </a:lnSpc>
        <a:spcBef>
          <a:spcPts val="1310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7pPr>
      <a:lvl8pPr marL="9000490" indent="-600075" algn="l" defTabSz="2400300" rtl="0" eaLnBrk="1" latinLnBrk="0" hangingPunct="1">
        <a:lnSpc>
          <a:spcPct val="90000"/>
        </a:lnSpc>
        <a:spcBef>
          <a:spcPts val="1310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8pPr>
      <a:lvl9pPr marL="10200640" indent="-600075" algn="l" defTabSz="2400300" rtl="0" eaLnBrk="1" latinLnBrk="0" hangingPunct="1">
        <a:lnSpc>
          <a:spcPct val="90000"/>
        </a:lnSpc>
        <a:spcBef>
          <a:spcPts val="1310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00300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1pPr>
      <a:lvl2pPr marL="1200150" algn="l" defTabSz="2400300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2pPr>
      <a:lvl3pPr marL="2400300" algn="l" defTabSz="2400300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3pPr>
      <a:lvl4pPr marL="3600450" algn="l" defTabSz="2400300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4pPr>
      <a:lvl5pPr marL="4799965" algn="l" defTabSz="2400300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5pPr>
      <a:lvl6pPr marL="6000115" algn="l" defTabSz="2400300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6pPr>
      <a:lvl7pPr marL="7200265" algn="l" defTabSz="2400300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7pPr>
      <a:lvl8pPr marL="8400415" algn="l" defTabSz="2400300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8pPr>
      <a:lvl9pPr marL="9600565" algn="l" defTabSz="2400300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汕大校徽940x294">
            <a:extLst>
              <a:ext uri="{FF2B5EF4-FFF2-40B4-BE49-F238E27FC236}">
                <a16:creationId xmlns:a16="http://schemas.microsoft.com/office/drawing/2014/main" id="{70604230-178C-9520-490E-E3875DA2BE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9280" y="-2"/>
            <a:ext cx="9775011" cy="3057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277FB7CF-9130-E840-DC8B-A761C5A620BD}"/>
              </a:ext>
            </a:extLst>
          </p:cNvPr>
          <p:cNvSpPr txBox="1"/>
          <p:nvPr/>
        </p:nvSpPr>
        <p:spPr>
          <a:xfrm>
            <a:off x="5821883" y="5773845"/>
            <a:ext cx="24355971" cy="39442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549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Corrax</a:t>
            </a:r>
            <a:r>
              <a:rPr lang="zh-CN" altLang="en-US" sz="11549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11549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CX</a:t>
            </a:r>
            <a:r>
              <a:rPr lang="zh-CN" altLang="en-US" sz="11549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sz="11549" b="1" dirty="0">
                <a:latin typeface="楷体" panose="02010609060101010101" pitchFamily="49" charset="-122"/>
                <a:ea typeface="楷体" panose="02010609060101010101" pitchFamily="49" charset="-122"/>
              </a:rPr>
              <a:t>样品大层厚数据</a:t>
            </a:r>
            <a:endParaRPr lang="en-US" altLang="zh-CN" sz="11549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r">
              <a:lnSpc>
                <a:spcPct val="200000"/>
              </a:lnSpc>
            </a:pPr>
            <a:r>
              <a:rPr lang="en-US" altLang="zh-CN" sz="8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——80μm</a:t>
            </a:r>
            <a:r>
              <a:rPr lang="zh-CN" altLang="en-US" sz="8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8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100μm</a:t>
            </a:r>
            <a:r>
              <a:rPr lang="zh-CN" altLang="en-US" sz="8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8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120μm</a:t>
            </a:r>
            <a:r>
              <a:rPr lang="zh-CN" altLang="en-US" sz="8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层厚</a:t>
            </a:r>
            <a:r>
              <a:rPr lang="en-US" altLang="zh-CN" sz="8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</a:t>
            </a:r>
            <a:endParaRPr lang="zh-CN" altLang="en-US" sz="80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F82F228-4F22-5CA3-3632-C5B665244CA6}"/>
              </a:ext>
            </a:extLst>
          </p:cNvPr>
          <p:cNvSpPr txBox="1"/>
          <p:nvPr/>
        </p:nvSpPr>
        <p:spPr>
          <a:xfrm>
            <a:off x="28214185" y="16147130"/>
            <a:ext cx="5456647" cy="1384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399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2024</a:t>
            </a:r>
            <a:endParaRPr lang="en-US" altLang="zh-CN" sz="8399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23DAF2C-A7D0-2B37-E9BE-703873E1D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DA75-3C22-4B54-ACF8-63972908B48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3652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汕大校徽940x294">
            <a:extLst>
              <a:ext uri="{FF2B5EF4-FFF2-40B4-BE49-F238E27FC236}">
                <a16:creationId xmlns:a16="http://schemas.microsoft.com/office/drawing/2014/main" id="{86EFAAE9-FBD5-2A81-86A5-45772AFA3B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9280" y="-2"/>
            <a:ext cx="9775011" cy="3057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51DBDE89-F3AB-3952-BB15-560180B5E81B}"/>
              </a:ext>
            </a:extLst>
          </p:cNvPr>
          <p:cNvSpPr txBox="1"/>
          <p:nvPr/>
        </p:nvSpPr>
        <p:spPr>
          <a:xfrm>
            <a:off x="5483430" y="3574550"/>
            <a:ext cx="25032879" cy="18696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549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Corrax</a:t>
            </a:r>
            <a:r>
              <a:rPr lang="zh-CN" altLang="en-US" sz="11549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11549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CX</a:t>
            </a:r>
            <a:r>
              <a:rPr lang="zh-CN" altLang="en-US" sz="11549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sz="11549" b="1" dirty="0">
                <a:latin typeface="楷体" panose="02010609060101010101" pitchFamily="49" charset="-122"/>
                <a:ea typeface="楷体" panose="02010609060101010101" pitchFamily="49" charset="-122"/>
              </a:rPr>
              <a:t>样品</a:t>
            </a:r>
            <a:r>
              <a:rPr lang="en-US" altLang="zh-CN" sz="11549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11549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光镜图</a:t>
            </a:r>
            <a:r>
              <a:rPr lang="en-US" altLang="zh-CN" sz="11549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lang="zh-CN" altLang="en-US" sz="11549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排水法</a:t>
            </a:r>
            <a:r>
              <a:rPr lang="en-US" altLang="zh-CN" sz="11549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endParaRPr lang="zh-CN" altLang="en-US" sz="11549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56" name="图片 55">
            <a:extLst>
              <a:ext uri="{FF2B5EF4-FFF2-40B4-BE49-F238E27FC236}">
                <a16:creationId xmlns:a16="http://schemas.microsoft.com/office/drawing/2014/main" id="{B33085E2-BD6E-7428-2613-A4CE86C0AC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94378" y="6677656"/>
            <a:ext cx="14135622" cy="9792020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586363B-AA9F-2E30-EF54-682DAA116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DA75-3C22-4B54-ACF8-63972908B486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1201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BE3BCEF4-CE90-680F-664E-D17757C715B1}"/>
              </a:ext>
            </a:extLst>
          </p:cNvPr>
          <p:cNvSpPr txBox="1"/>
          <p:nvPr/>
        </p:nvSpPr>
        <p:spPr>
          <a:xfrm>
            <a:off x="14452256" y="367290"/>
            <a:ext cx="7095226" cy="193899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zh-CN" altLang="en-US" sz="6000" dirty="0">
                <a:latin typeface="Times New Roman" panose="02020603050405020304" pitchFamily="18" charset="0"/>
                <a:ea typeface="楷体" panose="02010609060101010101" pitchFamily="49" charset="-122"/>
              </a:rPr>
              <a:t>各层厚工艺参数数据</a:t>
            </a:r>
            <a:endParaRPr lang="en-US" altLang="zh-CN" sz="60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algn="ctr"/>
            <a:r>
              <a:rPr lang="en-US" altLang="zh-CN" sz="6000" b="1" baseline="0" dirty="0">
                <a:latin typeface="Times New Roman" panose="02020603050405020304" pitchFamily="18" charset="0"/>
                <a:ea typeface="楷体" panose="02010609060101010101" pitchFamily="49" charset="-122"/>
              </a:rPr>
              <a:t>80μm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699DD50-B610-DBD4-11E8-D4AEEE20227A}"/>
              </a:ext>
            </a:extLst>
          </p:cNvPr>
          <p:cNvGraphicFramePr>
            <a:graphicFrameLocks noGrp="1"/>
          </p:cNvGraphicFramePr>
          <p:nvPr/>
        </p:nvGraphicFramePr>
        <p:xfrm>
          <a:off x="2330245" y="3038169"/>
          <a:ext cx="15185320" cy="130670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22198">
                  <a:extLst>
                    <a:ext uri="{9D8B030D-6E8A-4147-A177-3AD203B41FA5}">
                      <a16:colId xmlns:a16="http://schemas.microsoft.com/office/drawing/2014/main" val="552451989"/>
                    </a:ext>
                  </a:extLst>
                </a:gridCol>
                <a:gridCol w="2280571">
                  <a:extLst>
                    <a:ext uri="{9D8B030D-6E8A-4147-A177-3AD203B41FA5}">
                      <a16:colId xmlns:a16="http://schemas.microsoft.com/office/drawing/2014/main" val="2871387490"/>
                    </a:ext>
                  </a:extLst>
                </a:gridCol>
                <a:gridCol w="2533966">
                  <a:extLst>
                    <a:ext uri="{9D8B030D-6E8A-4147-A177-3AD203B41FA5}">
                      <a16:colId xmlns:a16="http://schemas.microsoft.com/office/drawing/2014/main" val="1956927319"/>
                    </a:ext>
                  </a:extLst>
                </a:gridCol>
                <a:gridCol w="2407268">
                  <a:extLst>
                    <a:ext uri="{9D8B030D-6E8A-4147-A177-3AD203B41FA5}">
                      <a16:colId xmlns:a16="http://schemas.microsoft.com/office/drawing/2014/main" val="3398268588"/>
                    </a:ext>
                  </a:extLst>
                </a:gridCol>
                <a:gridCol w="3009084">
                  <a:extLst>
                    <a:ext uri="{9D8B030D-6E8A-4147-A177-3AD203B41FA5}">
                      <a16:colId xmlns:a16="http://schemas.microsoft.com/office/drawing/2014/main" val="2441364930"/>
                    </a:ext>
                  </a:extLst>
                </a:gridCol>
                <a:gridCol w="2832233">
                  <a:extLst>
                    <a:ext uri="{9D8B030D-6E8A-4147-A177-3AD203B41FA5}">
                      <a16:colId xmlns:a16="http://schemas.microsoft.com/office/drawing/2014/main" val="4197740048"/>
                    </a:ext>
                  </a:extLst>
                </a:gridCol>
              </a:tblGrid>
              <a:tr h="14255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80μm</a:t>
                      </a:r>
                    </a:p>
                    <a:p>
                      <a:pPr algn="ctr"/>
                      <a:r>
                        <a:rPr lang="en-US" altLang="zh-CN" sz="3200" b="1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11.15</a:t>
                      </a:r>
                      <a:endParaRPr lang="zh-CN" altLang="en-US" sz="3200" b="1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85343" marR="85343" marT="42672" marB="426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P</a:t>
                      </a:r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W</a:t>
                      </a:r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）</a:t>
                      </a:r>
                    </a:p>
                  </a:txBody>
                  <a:tcPr marL="85343" marR="85343" marT="42672" marB="426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V</a:t>
                      </a:r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mm/s</a:t>
                      </a:r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）</a:t>
                      </a:r>
                    </a:p>
                  </a:txBody>
                  <a:tcPr marL="85343" marR="85343" marT="42672" marB="426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H</a:t>
                      </a:r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3200" baseline="0" dirty="0" err="1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μm</a:t>
                      </a:r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）</a:t>
                      </a:r>
                    </a:p>
                  </a:txBody>
                  <a:tcPr marL="85343" marR="85343" marT="42672" marB="426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E</a:t>
                      </a:r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J/mm</a:t>
                      </a:r>
                      <a:r>
                        <a:rPr lang="en-US" altLang="zh-CN" sz="3200" baseline="3000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3</a:t>
                      </a:r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）</a:t>
                      </a:r>
                    </a:p>
                  </a:txBody>
                  <a:tcPr marL="85343" marR="85343" marT="42672" marB="42672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排水法致密度（</a:t>
                      </a:r>
                      <a:r>
                        <a:rPr lang="en-US" altLang="zh-CN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%</a:t>
                      </a:r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240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+mn-cs"/>
                      </a:endParaRPr>
                    </a:p>
                  </a:txBody>
                  <a:tcPr marL="85343" marR="85343" marT="42672" marB="426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14407822"/>
                  </a:ext>
                </a:extLst>
              </a:tr>
              <a:tr h="8315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415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54.61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99.7</a:t>
                      </a:r>
                      <a:endParaRPr lang="zh-CN" altLang="en-US" sz="3600" baseline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85343" marR="85343" marT="42672" marB="426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006203"/>
                  </a:ext>
                </a:extLst>
              </a:tr>
              <a:tr h="8315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2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440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57.89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99.8</a:t>
                      </a:r>
                      <a:endParaRPr lang="zh-CN" altLang="en-US" sz="3600" baseline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85343" marR="85343" marT="42672" marB="426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6256508"/>
                  </a:ext>
                </a:extLst>
              </a:tr>
              <a:tr h="8315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3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428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46.47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99.8</a:t>
                      </a:r>
                      <a:endParaRPr lang="zh-CN" altLang="en-US" sz="3600" baseline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85343" marR="85343" marT="42672" marB="426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9028251"/>
                  </a:ext>
                </a:extLst>
              </a:tr>
              <a:tr h="8315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4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428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1017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47.78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99.8</a:t>
                      </a:r>
                      <a:endParaRPr lang="zh-CN" altLang="en-US" sz="3600" baseline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85343" marR="85343" marT="42672" marB="426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9111007"/>
                  </a:ext>
                </a:extLst>
              </a:tr>
              <a:tr h="8315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5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390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51.32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99.9</a:t>
                      </a:r>
                      <a:endParaRPr lang="zh-CN" altLang="en-US" sz="3600" b="0" baseline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85343" marR="85343" marT="42672" marB="426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2907599"/>
                  </a:ext>
                </a:extLst>
              </a:tr>
              <a:tr h="8315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6</a:t>
                      </a:r>
                      <a:r>
                        <a:rPr lang="zh-CN" altLang="en-US" sz="3600" b="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403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67.08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99.9</a:t>
                      </a:r>
                      <a:endParaRPr lang="zh-CN" altLang="en-US" sz="3600" b="0" baseline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85343" marR="85343" marT="42672" marB="426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1396497"/>
                  </a:ext>
                </a:extLst>
              </a:tr>
              <a:tr h="8315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7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403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883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63.29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b="0" kern="12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+mn-cs"/>
                        </a:rPr>
                        <a:t>99.8</a:t>
                      </a:r>
                      <a:endParaRPr lang="zh-CN" altLang="en-US" sz="3600" b="0" kern="1200" baseline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+mn-cs"/>
                      </a:endParaRPr>
                    </a:p>
                  </a:txBody>
                  <a:tcPr marL="85343" marR="85343" marT="42672" marB="426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5646719"/>
                  </a:ext>
                </a:extLst>
              </a:tr>
              <a:tr h="8315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8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428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71.25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99.9</a:t>
                      </a:r>
                      <a:endParaRPr lang="zh-CN" altLang="en-US" sz="3600" b="0" baseline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85343" marR="85343" marT="42672" marB="426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7403385"/>
                  </a:ext>
                </a:extLst>
              </a:tr>
              <a:tr h="8315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9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428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883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67.22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99.9</a:t>
                      </a:r>
                      <a:endParaRPr lang="zh-CN" altLang="en-US" sz="3600" b="0" baseline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85343" marR="85343" marT="42672" marB="426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8482605"/>
                  </a:ext>
                </a:extLst>
              </a:tr>
              <a:tr h="8315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10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403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43.75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99.8</a:t>
                      </a:r>
                      <a:endParaRPr lang="zh-CN" altLang="en-US" sz="3600" baseline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85343" marR="85343" marT="42672" marB="426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7994225"/>
                  </a:ext>
                </a:extLst>
              </a:tr>
              <a:tr h="8315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11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415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1083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53.21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99.8</a:t>
                      </a:r>
                      <a:endParaRPr lang="zh-CN" altLang="en-US" sz="3600" baseline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85343" marR="85343" marT="42672" marB="426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8156420"/>
                  </a:ext>
                </a:extLst>
              </a:tr>
              <a:tr h="8315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12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403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1017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44.99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99.7</a:t>
                      </a:r>
                      <a:endParaRPr lang="zh-CN" altLang="en-US" sz="3600" baseline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85343" marR="85343" marT="42672" marB="426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329977"/>
                  </a:ext>
                </a:extLst>
              </a:tr>
              <a:tr h="8315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13</a:t>
                      </a:r>
                      <a:r>
                        <a:rPr lang="zh-CN" altLang="en-US" sz="3600" b="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415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817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57.74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b="0" kern="12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+mn-cs"/>
                        </a:rPr>
                        <a:t>99.9</a:t>
                      </a:r>
                      <a:endParaRPr lang="zh-CN" altLang="en-US" sz="3600" b="0" kern="1200" baseline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+mn-cs"/>
                      </a:endParaRPr>
                    </a:p>
                  </a:txBody>
                  <a:tcPr marL="85343" marR="85343" marT="42672" marB="426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2778211"/>
                  </a:ext>
                </a:extLst>
              </a:tr>
              <a:tr h="8315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14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390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817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66.32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+mn-cs"/>
                        </a:rPr>
                        <a:t>99.9</a:t>
                      </a:r>
                      <a:endParaRPr lang="zh-CN" altLang="en-US" sz="3600" kern="1200" baseline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+mn-cs"/>
                      </a:endParaRPr>
                    </a:p>
                  </a:txBody>
                  <a:tcPr marL="85343" marR="85343" marT="42672" marB="426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6608141"/>
                  </a:ext>
                </a:extLst>
              </a:tr>
            </a:tbl>
          </a:graphicData>
        </a:graphic>
      </p:graphicFrame>
      <p:graphicFrame>
        <p:nvGraphicFramePr>
          <p:cNvPr id="5" name="表格 3">
            <a:extLst>
              <a:ext uri="{FF2B5EF4-FFF2-40B4-BE49-F238E27FC236}">
                <a16:creationId xmlns:a16="http://schemas.microsoft.com/office/drawing/2014/main" id="{CB7F024B-A275-57AF-E742-DFD59338F57E}"/>
              </a:ext>
            </a:extLst>
          </p:cNvPr>
          <p:cNvGraphicFramePr>
            <a:graphicFrameLocks noGrp="1"/>
          </p:cNvGraphicFramePr>
          <p:nvPr/>
        </p:nvGraphicFramePr>
        <p:xfrm>
          <a:off x="18470497" y="3038168"/>
          <a:ext cx="15185321" cy="130670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72186">
                  <a:extLst>
                    <a:ext uri="{9D8B030D-6E8A-4147-A177-3AD203B41FA5}">
                      <a16:colId xmlns:a16="http://schemas.microsoft.com/office/drawing/2014/main" val="552451989"/>
                    </a:ext>
                  </a:extLst>
                </a:gridCol>
                <a:gridCol w="2376348">
                  <a:extLst>
                    <a:ext uri="{9D8B030D-6E8A-4147-A177-3AD203B41FA5}">
                      <a16:colId xmlns:a16="http://schemas.microsoft.com/office/drawing/2014/main" val="2871387490"/>
                    </a:ext>
                  </a:extLst>
                </a:gridCol>
                <a:gridCol w="2498025">
                  <a:extLst>
                    <a:ext uri="{9D8B030D-6E8A-4147-A177-3AD203B41FA5}">
                      <a16:colId xmlns:a16="http://schemas.microsoft.com/office/drawing/2014/main" val="1956927319"/>
                    </a:ext>
                  </a:extLst>
                </a:gridCol>
                <a:gridCol w="2236604">
                  <a:extLst>
                    <a:ext uri="{9D8B030D-6E8A-4147-A177-3AD203B41FA5}">
                      <a16:colId xmlns:a16="http://schemas.microsoft.com/office/drawing/2014/main" val="3398268588"/>
                    </a:ext>
                  </a:extLst>
                </a:gridCol>
                <a:gridCol w="3020866">
                  <a:extLst>
                    <a:ext uri="{9D8B030D-6E8A-4147-A177-3AD203B41FA5}">
                      <a16:colId xmlns:a16="http://schemas.microsoft.com/office/drawing/2014/main" val="2441364930"/>
                    </a:ext>
                  </a:extLst>
                </a:gridCol>
                <a:gridCol w="3081292">
                  <a:extLst>
                    <a:ext uri="{9D8B030D-6E8A-4147-A177-3AD203B41FA5}">
                      <a16:colId xmlns:a16="http://schemas.microsoft.com/office/drawing/2014/main" val="4197740048"/>
                    </a:ext>
                  </a:extLst>
                </a:gridCol>
              </a:tblGrid>
              <a:tr h="14255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80μm</a:t>
                      </a:r>
                    </a:p>
                    <a:p>
                      <a:pPr algn="ctr"/>
                      <a:r>
                        <a:rPr lang="en-US" altLang="zh-CN" sz="3200" b="1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11.22</a:t>
                      </a:r>
                      <a:endParaRPr lang="zh-CN" altLang="en-US" sz="3200" b="1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85343" marR="85343" marT="42672" marB="426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P</a:t>
                      </a:r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W</a:t>
                      </a:r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）</a:t>
                      </a:r>
                    </a:p>
                  </a:txBody>
                  <a:tcPr marL="85343" marR="85343" marT="42672" marB="426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V</a:t>
                      </a:r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mm/s</a:t>
                      </a:r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）</a:t>
                      </a:r>
                    </a:p>
                  </a:txBody>
                  <a:tcPr marL="85343" marR="85343" marT="42672" marB="426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H</a:t>
                      </a:r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3200" baseline="0" dirty="0" err="1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μm</a:t>
                      </a:r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）</a:t>
                      </a:r>
                    </a:p>
                  </a:txBody>
                  <a:tcPr marL="85343" marR="85343" marT="42672" marB="426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E</a:t>
                      </a:r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J/mm</a:t>
                      </a:r>
                      <a:r>
                        <a:rPr lang="en-US" altLang="zh-CN" sz="3200" baseline="3000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3</a:t>
                      </a:r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）</a:t>
                      </a:r>
                    </a:p>
                  </a:txBody>
                  <a:tcPr marL="85343" marR="85343" marT="42672" marB="42672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排水法致密度（</a:t>
                      </a:r>
                      <a:r>
                        <a:rPr lang="en-US" altLang="zh-CN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%</a:t>
                      </a:r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240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+mn-cs"/>
                      </a:endParaRPr>
                    </a:p>
                  </a:txBody>
                  <a:tcPr marL="85343" marR="85343" marT="42672" marB="426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14407822"/>
                  </a:ext>
                </a:extLst>
              </a:tr>
              <a:tr h="8315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415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875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53.90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99.8</a:t>
                      </a:r>
                      <a:endParaRPr lang="zh-CN" altLang="en-US" sz="3600" b="0" baseline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85343" marR="85343" marT="42672" marB="426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006203"/>
                  </a:ext>
                </a:extLst>
              </a:tr>
              <a:tr h="8315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2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430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875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55.84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99.8</a:t>
                      </a:r>
                      <a:endParaRPr lang="zh-CN" altLang="en-US" sz="3600" b="0" baseline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85343" marR="85343" marT="42672" marB="426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6256508"/>
                  </a:ext>
                </a:extLst>
              </a:tr>
              <a:tr h="8315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3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423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925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51.90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99.7</a:t>
                      </a:r>
                      <a:endParaRPr lang="zh-CN" altLang="en-US" sz="3600" b="0" baseline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85343" marR="85343" marT="42672" marB="426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9028251"/>
                  </a:ext>
                </a:extLst>
              </a:tr>
              <a:tr h="8315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4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423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892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51.50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99.7</a:t>
                      </a:r>
                      <a:endParaRPr lang="zh-CN" altLang="en-US" sz="3600" b="0" baseline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85343" marR="85343" marT="42672" marB="426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9111007"/>
                  </a:ext>
                </a:extLst>
              </a:tr>
              <a:tr h="8315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5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875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51.95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99.7</a:t>
                      </a:r>
                      <a:endParaRPr lang="zh-CN" altLang="en-US" sz="3600" b="0" baseline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85343" marR="85343" marT="42672" marB="426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2907599"/>
                  </a:ext>
                </a:extLst>
              </a:tr>
              <a:tr h="8315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6</a:t>
                      </a:r>
                      <a:r>
                        <a:rPr lang="zh-CN" altLang="en-US" sz="3600" b="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408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825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56.13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99.8</a:t>
                      </a:r>
                      <a:endParaRPr lang="zh-CN" altLang="en-US" sz="3600" b="0" baseline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85343" marR="85343" marT="42672" marB="426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1396497"/>
                  </a:ext>
                </a:extLst>
              </a:tr>
              <a:tr h="8315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7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408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858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56.52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99.8</a:t>
                      </a:r>
                      <a:endParaRPr lang="zh-CN" altLang="en-US" sz="3600" b="0" baseline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85343" marR="85343" marT="42672" marB="426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5646719"/>
                  </a:ext>
                </a:extLst>
              </a:tr>
              <a:tr h="8315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8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423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825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58.20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99.8</a:t>
                      </a:r>
                      <a:endParaRPr lang="zh-CN" altLang="en-US" sz="3600" b="0" baseline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85343" marR="85343" marT="42672" marB="426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7403385"/>
                  </a:ext>
                </a:extLst>
              </a:tr>
              <a:tr h="8315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9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423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858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58.60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99.8</a:t>
                      </a:r>
                      <a:endParaRPr lang="zh-CN" altLang="en-US" sz="3600" b="0" baseline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85343" marR="85343" marT="42672" marB="426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8482605"/>
                  </a:ext>
                </a:extLst>
              </a:tr>
              <a:tr h="8315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10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408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925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50.06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99.6</a:t>
                      </a:r>
                      <a:endParaRPr lang="zh-CN" altLang="en-US" sz="3600" b="0" baseline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85343" marR="85343" marT="42672" marB="426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7994225"/>
                  </a:ext>
                </a:extLst>
              </a:tr>
              <a:tr h="8315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11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415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908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54.39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99.8</a:t>
                      </a:r>
                      <a:endParaRPr lang="zh-CN" altLang="en-US" sz="3600" b="0" baseline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85343" marR="85343" marT="42672" marB="426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8156420"/>
                  </a:ext>
                </a:extLst>
              </a:tr>
              <a:tr h="8315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12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408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892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49.67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99.7</a:t>
                      </a:r>
                      <a:endParaRPr lang="zh-CN" altLang="en-US" sz="3600" b="0" baseline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85343" marR="85343" marT="42672" marB="426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329977"/>
                  </a:ext>
                </a:extLst>
              </a:tr>
              <a:tr h="8315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13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415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842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53.59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b="0" kern="12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+mn-cs"/>
                        </a:rPr>
                        <a:t>99.7</a:t>
                      </a:r>
                      <a:endParaRPr lang="zh-CN" altLang="en-US" sz="3600" b="0" kern="1200" baseline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+mn-cs"/>
                      </a:endParaRPr>
                    </a:p>
                  </a:txBody>
                  <a:tcPr marL="85343" marR="85343" marT="42672" marB="426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2778211"/>
                  </a:ext>
                </a:extLst>
              </a:tr>
              <a:tr h="8315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14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842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56.58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b="0" kern="12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+mn-cs"/>
                        </a:rPr>
                        <a:t>99.7</a:t>
                      </a:r>
                      <a:endParaRPr lang="zh-CN" altLang="en-US" sz="3600" b="0" kern="1200" baseline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+mn-cs"/>
                      </a:endParaRPr>
                    </a:p>
                  </a:txBody>
                  <a:tcPr marL="85343" marR="85343" marT="42672" marB="426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6608141"/>
                  </a:ext>
                </a:extLst>
              </a:tr>
            </a:tbl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FA177D9-7DAF-A6E9-1645-F64994117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DA75-3C22-4B54-ACF8-63972908B48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06889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BE3BCEF4-CE90-680F-664E-D17757C715B1}"/>
              </a:ext>
            </a:extLst>
          </p:cNvPr>
          <p:cNvSpPr txBox="1"/>
          <p:nvPr/>
        </p:nvSpPr>
        <p:spPr>
          <a:xfrm>
            <a:off x="14393261" y="247502"/>
            <a:ext cx="7213213" cy="193899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zh-CN" altLang="en-US" sz="6000" dirty="0">
                <a:latin typeface="Times New Roman" panose="02020603050405020304" pitchFamily="18" charset="0"/>
                <a:ea typeface="楷体" panose="02010609060101010101" pitchFamily="49" charset="-122"/>
              </a:rPr>
              <a:t>各层厚工艺参数数据</a:t>
            </a:r>
            <a:endParaRPr lang="en-US" altLang="zh-CN" sz="60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algn="ctr"/>
            <a:r>
              <a:rPr lang="en-US" altLang="zh-CN" sz="60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10</a:t>
            </a:r>
            <a:r>
              <a:rPr lang="en-US" altLang="zh-CN" sz="6000" b="1" baseline="0" dirty="0">
                <a:latin typeface="Times New Roman" panose="02020603050405020304" pitchFamily="18" charset="0"/>
                <a:ea typeface="楷体" panose="02010609060101010101" pitchFamily="49" charset="-122"/>
              </a:rPr>
              <a:t>0μm</a:t>
            </a:r>
          </a:p>
        </p:txBody>
      </p:sp>
      <p:graphicFrame>
        <p:nvGraphicFramePr>
          <p:cNvPr id="2" name="表格 3">
            <a:extLst>
              <a:ext uri="{FF2B5EF4-FFF2-40B4-BE49-F238E27FC236}">
                <a16:creationId xmlns:a16="http://schemas.microsoft.com/office/drawing/2014/main" id="{2A86FAC9-544D-EDDE-106C-EFDEDD4637B2}"/>
              </a:ext>
            </a:extLst>
          </p:cNvPr>
          <p:cNvGraphicFramePr>
            <a:graphicFrameLocks noGrp="1"/>
          </p:cNvGraphicFramePr>
          <p:nvPr/>
        </p:nvGraphicFramePr>
        <p:xfrm>
          <a:off x="7856397" y="2831692"/>
          <a:ext cx="20286943" cy="1395197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32867">
                  <a:extLst>
                    <a:ext uri="{9D8B030D-6E8A-4147-A177-3AD203B41FA5}">
                      <a16:colId xmlns:a16="http://schemas.microsoft.com/office/drawing/2014/main" val="552451989"/>
                    </a:ext>
                  </a:extLst>
                </a:gridCol>
                <a:gridCol w="3143248">
                  <a:extLst>
                    <a:ext uri="{9D8B030D-6E8A-4147-A177-3AD203B41FA5}">
                      <a16:colId xmlns:a16="http://schemas.microsoft.com/office/drawing/2014/main" val="2871387490"/>
                    </a:ext>
                  </a:extLst>
                </a:gridCol>
                <a:gridCol w="3364506">
                  <a:extLst>
                    <a:ext uri="{9D8B030D-6E8A-4147-A177-3AD203B41FA5}">
                      <a16:colId xmlns:a16="http://schemas.microsoft.com/office/drawing/2014/main" val="1956927319"/>
                    </a:ext>
                  </a:extLst>
                </a:gridCol>
                <a:gridCol w="3152753">
                  <a:extLst>
                    <a:ext uri="{9D8B030D-6E8A-4147-A177-3AD203B41FA5}">
                      <a16:colId xmlns:a16="http://schemas.microsoft.com/office/drawing/2014/main" val="3398268588"/>
                    </a:ext>
                  </a:extLst>
                </a:gridCol>
                <a:gridCol w="4000993">
                  <a:extLst>
                    <a:ext uri="{9D8B030D-6E8A-4147-A177-3AD203B41FA5}">
                      <a16:colId xmlns:a16="http://schemas.microsoft.com/office/drawing/2014/main" val="2441364930"/>
                    </a:ext>
                  </a:extLst>
                </a:gridCol>
                <a:gridCol w="3792576">
                  <a:extLst>
                    <a:ext uri="{9D8B030D-6E8A-4147-A177-3AD203B41FA5}">
                      <a16:colId xmlns:a16="http://schemas.microsoft.com/office/drawing/2014/main" val="1176069538"/>
                    </a:ext>
                  </a:extLst>
                </a:gridCol>
              </a:tblGrid>
              <a:tr h="146163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100μm</a:t>
                      </a:r>
                    </a:p>
                    <a:p>
                      <a:pPr algn="ctr"/>
                      <a:r>
                        <a:rPr lang="en-US" altLang="zh-CN" sz="3200" b="1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12.16</a:t>
                      </a:r>
                      <a:endParaRPr lang="zh-CN" altLang="en-US" sz="3200" b="1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85343" marR="85343" marT="42672" marB="426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P</a:t>
                      </a:r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W</a:t>
                      </a:r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）</a:t>
                      </a:r>
                    </a:p>
                  </a:txBody>
                  <a:tcPr marL="85343" marR="85343" marT="42672" marB="426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V</a:t>
                      </a:r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mm/s</a:t>
                      </a:r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）</a:t>
                      </a:r>
                    </a:p>
                  </a:txBody>
                  <a:tcPr marL="85343" marR="85343" marT="42672" marB="426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H</a:t>
                      </a:r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3200" baseline="0" dirty="0" err="1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μm</a:t>
                      </a:r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）</a:t>
                      </a:r>
                    </a:p>
                  </a:txBody>
                  <a:tcPr marL="85343" marR="85343" marT="42672" marB="426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E</a:t>
                      </a:r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J/mm</a:t>
                      </a:r>
                      <a:r>
                        <a:rPr lang="en-US" altLang="zh-CN" sz="3200" baseline="3000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3</a:t>
                      </a:r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）</a:t>
                      </a:r>
                    </a:p>
                  </a:txBody>
                  <a:tcPr marL="85343" marR="85343" marT="42672" marB="42672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排水法致密度（</a:t>
                      </a:r>
                      <a:r>
                        <a:rPr lang="en-US" altLang="zh-CN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%</a:t>
                      </a:r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240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+mn-cs"/>
                      </a:endParaRPr>
                    </a:p>
                  </a:txBody>
                  <a:tcPr marL="85343" marR="85343" marT="42672" marB="426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14407822"/>
                  </a:ext>
                </a:extLst>
              </a:tr>
              <a:tr h="8921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423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44.53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99.4</a:t>
                      </a:r>
                    </a:p>
                  </a:txBody>
                  <a:tcPr marL="8890" marR="8890" marT="88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006203"/>
                  </a:ext>
                </a:extLst>
              </a:tr>
              <a:tr h="8921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2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443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46.63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99.3</a:t>
                      </a:r>
                    </a:p>
                  </a:txBody>
                  <a:tcPr marL="8890" marR="8890" marT="88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6256508"/>
                  </a:ext>
                </a:extLst>
              </a:tr>
              <a:tr h="8921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3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433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37.65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99.4</a:t>
                      </a:r>
                    </a:p>
                  </a:txBody>
                  <a:tcPr marL="8890" marR="8890" marT="88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9028251"/>
                  </a:ext>
                </a:extLst>
              </a:tr>
              <a:tr h="8921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4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433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1017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38.72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99.3</a:t>
                      </a:r>
                    </a:p>
                  </a:txBody>
                  <a:tcPr marL="8890" marR="8890" marT="88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9111007"/>
                  </a:ext>
                </a:extLst>
              </a:tr>
              <a:tr h="8921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5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403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42.42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99.5</a:t>
                      </a:r>
                    </a:p>
                  </a:txBody>
                  <a:tcPr marL="8890" marR="8890" marT="88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2907599"/>
                  </a:ext>
                </a:extLst>
              </a:tr>
              <a:tr h="8921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6</a:t>
                      </a:r>
                      <a:r>
                        <a:rPr lang="zh-CN" altLang="en-US" sz="3600" b="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413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55.07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99.5</a:t>
                      </a:r>
                    </a:p>
                  </a:txBody>
                  <a:tcPr marL="8890" marR="8890" marT="88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1396497"/>
                  </a:ext>
                </a:extLst>
              </a:tr>
              <a:tr h="8921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7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413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883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51.95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99.5</a:t>
                      </a:r>
                    </a:p>
                  </a:txBody>
                  <a:tcPr marL="8890" marR="8890" marT="88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5646719"/>
                  </a:ext>
                </a:extLst>
              </a:tr>
              <a:tr h="8921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8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433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57.73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99.4</a:t>
                      </a:r>
                    </a:p>
                  </a:txBody>
                  <a:tcPr marL="8890" marR="8890" marT="88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7403385"/>
                  </a:ext>
                </a:extLst>
              </a:tr>
              <a:tr h="8921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9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433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883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54.47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99.5</a:t>
                      </a:r>
                    </a:p>
                  </a:txBody>
                  <a:tcPr marL="8890" marR="8890" marT="88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8482605"/>
                  </a:ext>
                </a:extLst>
              </a:tr>
              <a:tr h="8921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10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413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35.91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99.4</a:t>
                      </a:r>
                    </a:p>
                  </a:txBody>
                  <a:tcPr marL="8890" marR="8890" marT="88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7994225"/>
                  </a:ext>
                </a:extLst>
              </a:tr>
              <a:tr h="8921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11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423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1083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43.39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99.5</a:t>
                      </a:r>
                    </a:p>
                  </a:txBody>
                  <a:tcPr marL="8890" marR="8890" marT="88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8156420"/>
                  </a:ext>
                </a:extLst>
              </a:tr>
              <a:tr h="8921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12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413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1017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36.93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99.4</a:t>
                      </a:r>
                    </a:p>
                  </a:txBody>
                  <a:tcPr marL="8890" marR="8890" marT="88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329977"/>
                  </a:ext>
                </a:extLst>
              </a:tr>
              <a:tr h="8921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13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423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817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47.08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99.5</a:t>
                      </a:r>
                    </a:p>
                  </a:txBody>
                  <a:tcPr marL="8890" marR="8890" marT="88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2778211"/>
                  </a:ext>
                </a:extLst>
              </a:tr>
              <a:tr h="8921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14</a:t>
                      </a:r>
                      <a:r>
                        <a:rPr lang="zh-CN" altLang="en-US" sz="3600" b="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403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817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54.82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99.5</a:t>
                      </a:r>
                    </a:p>
                  </a:txBody>
                  <a:tcPr marL="8890" marR="8890" marT="88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6608141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69C3DBB-B067-326E-905C-B0007A547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DA75-3C22-4B54-ACF8-63972908B48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58883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BE3BCEF4-CE90-680F-664E-D17757C715B1}"/>
              </a:ext>
            </a:extLst>
          </p:cNvPr>
          <p:cNvSpPr txBox="1"/>
          <p:nvPr/>
        </p:nvSpPr>
        <p:spPr>
          <a:xfrm>
            <a:off x="13596894" y="308297"/>
            <a:ext cx="8805950" cy="193899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zh-CN" altLang="en-US" sz="6000" dirty="0">
                <a:latin typeface="Times New Roman" panose="02020603050405020304" pitchFamily="18" charset="0"/>
                <a:ea typeface="楷体" panose="02010609060101010101" pitchFamily="49" charset="-122"/>
              </a:rPr>
              <a:t>各层厚工艺参数数据</a:t>
            </a:r>
            <a:r>
              <a:rPr lang="en-US" altLang="zh-CN" sz="6000" dirty="0">
                <a:latin typeface="Times New Roman" panose="02020603050405020304" pitchFamily="18" charset="0"/>
                <a:ea typeface="楷体" panose="02010609060101010101" pitchFamily="49" charset="-122"/>
              </a:rPr>
              <a:t>0510</a:t>
            </a:r>
          </a:p>
          <a:p>
            <a:pPr algn="ctr"/>
            <a:r>
              <a:rPr lang="en-US" altLang="zh-CN" sz="60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10</a:t>
            </a:r>
            <a:r>
              <a:rPr lang="en-US" altLang="zh-CN" sz="6000" b="1" baseline="0" dirty="0">
                <a:latin typeface="Times New Roman" panose="02020603050405020304" pitchFamily="18" charset="0"/>
                <a:ea typeface="楷体" panose="02010609060101010101" pitchFamily="49" charset="-122"/>
              </a:rPr>
              <a:t>0μm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DB5BAF06-3EBE-5117-2583-A6FCFEBDC9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2391762"/>
              </p:ext>
            </p:extLst>
          </p:nvPr>
        </p:nvGraphicFramePr>
        <p:xfrm>
          <a:off x="2314422" y="3463337"/>
          <a:ext cx="14847109" cy="1273039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73249">
                  <a:extLst>
                    <a:ext uri="{9D8B030D-6E8A-4147-A177-3AD203B41FA5}">
                      <a16:colId xmlns:a16="http://schemas.microsoft.com/office/drawing/2014/main" val="552451989"/>
                    </a:ext>
                  </a:extLst>
                </a:gridCol>
                <a:gridCol w="2300403">
                  <a:extLst>
                    <a:ext uri="{9D8B030D-6E8A-4147-A177-3AD203B41FA5}">
                      <a16:colId xmlns:a16="http://schemas.microsoft.com/office/drawing/2014/main" val="2871387490"/>
                    </a:ext>
                  </a:extLst>
                </a:gridCol>
                <a:gridCol w="2462333">
                  <a:extLst>
                    <a:ext uri="{9D8B030D-6E8A-4147-A177-3AD203B41FA5}">
                      <a16:colId xmlns:a16="http://schemas.microsoft.com/office/drawing/2014/main" val="1956927319"/>
                    </a:ext>
                  </a:extLst>
                </a:gridCol>
                <a:gridCol w="2307360">
                  <a:extLst>
                    <a:ext uri="{9D8B030D-6E8A-4147-A177-3AD203B41FA5}">
                      <a16:colId xmlns:a16="http://schemas.microsoft.com/office/drawing/2014/main" val="3398268588"/>
                    </a:ext>
                  </a:extLst>
                </a:gridCol>
                <a:gridCol w="2928148">
                  <a:extLst>
                    <a:ext uri="{9D8B030D-6E8A-4147-A177-3AD203B41FA5}">
                      <a16:colId xmlns:a16="http://schemas.microsoft.com/office/drawing/2014/main" val="2441364930"/>
                    </a:ext>
                  </a:extLst>
                </a:gridCol>
                <a:gridCol w="2775616">
                  <a:extLst>
                    <a:ext uri="{9D8B030D-6E8A-4147-A177-3AD203B41FA5}">
                      <a16:colId xmlns:a16="http://schemas.microsoft.com/office/drawing/2014/main" val="1176069538"/>
                    </a:ext>
                  </a:extLst>
                </a:gridCol>
              </a:tblGrid>
              <a:tr h="129705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100t</a:t>
                      </a:r>
                    </a:p>
                    <a:p>
                      <a:pPr algn="ctr"/>
                      <a:r>
                        <a:rPr lang="en-US" altLang="zh-CN" sz="3200" b="1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0510-1</a:t>
                      </a:r>
                      <a:endParaRPr lang="zh-CN" altLang="en-US" sz="3200" b="1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85343" marR="85343" marT="42672" marB="426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P</a:t>
                      </a:r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W</a:t>
                      </a:r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）</a:t>
                      </a:r>
                    </a:p>
                  </a:txBody>
                  <a:tcPr marL="85343" marR="85343" marT="42672" marB="426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V</a:t>
                      </a:r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mm/s</a:t>
                      </a:r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）</a:t>
                      </a:r>
                    </a:p>
                  </a:txBody>
                  <a:tcPr marL="85343" marR="85343" marT="42672" marB="426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H</a:t>
                      </a:r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3200" baseline="0" dirty="0" err="1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μm</a:t>
                      </a:r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）</a:t>
                      </a:r>
                    </a:p>
                  </a:txBody>
                  <a:tcPr marL="85343" marR="85343" marT="42672" marB="426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E</a:t>
                      </a:r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J/mm</a:t>
                      </a:r>
                      <a:r>
                        <a:rPr lang="en-US" altLang="zh-CN" sz="3200" baseline="3000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3</a:t>
                      </a:r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）</a:t>
                      </a:r>
                    </a:p>
                  </a:txBody>
                  <a:tcPr marL="85343" marR="85343" marT="42672" marB="42672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排水法（</a:t>
                      </a:r>
                      <a:r>
                        <a:rPr lang="en-US" altLang="zh-CN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%</a:t>
                      </a:r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240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+mn-cs"/>
                      </a:endParaRPr>
                    </a:p>
                  </a:txBody>
                  <a:tcPr marL="85343" marR="85343" marT="42672" marB="426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14407822"/>
                  </a:ext>
                </a:extLst>
              </a:tr>
              <a:tr h="8166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405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47.65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006203"/>
                  </a:ext>
                </a:extLst>
              </a:tr>
              <a:tr h="8166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2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425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50.00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6256508"/>
                  </a:ext>
                </a:extLst>
              </a:tr>
              <a:tr h="8166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3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415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41.50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9028251"/>
                  </a:ext>
                </a:extLst>
              </a:tr>
              <a:tr h="8166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4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415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41.92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9111007"/>
                  </a:ext>
                </a:extLst>
              </a:tr>
              <a:tr h="8166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5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385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45.29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99.8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2907599"/>
                  </a:ext>
                </a:extLst>
              </a:tr>
              <a:tr h="8166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6</a:t>
                      </a:r>
                      <a:r>
                        <a:rPr lang="zh-CN" altLang="en-US" sz="3600" b="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395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56.43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1396497"/>
                  </a:ext>
                </a:extLst>
              </a:tr>
              <a:tr h="8166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7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395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54.87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5646719"/>
                  </a:ext>
                </a:extLst>
              </a:tr>
              <a:tr h="8166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8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415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59.29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7403385"/>
                  </a:ext>
                </a:extLst>
              </a:tr>
              <a:tr h="8166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9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415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57.64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8482605"/>
                  </a:ext>
                </a:extLst>
              </a:tr>
              <a:tr h="8166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10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395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39.50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7994225"/>
                  </a:ext>
                </a:extLst>
              </a:tr>
              <a:tr h="8166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11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405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47.37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8156420"/>
                  </a:ext>
                </a:extLst>
              </a:tr>
              <a:tr h="8166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12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395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39.90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329977"/>
                  </a:ext>
                </a:extLst>
              </a:tr>
              <a:tr h="8166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13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405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49.09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2778211"/>
                  </a:ext>
                </a:extLst>
              </a:tr>
              <a:tr h="8166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14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385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57.03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6608141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DF529BBD-C954-D49E-B6FA-B6403826BA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862724"/>
              </p:ext>
            </p:extLst>
          </p:nvPr>
        </p:nvGraphicFramePr>
        <p:xfrm>
          <a:off x="18808711" y="3463337"/>
          <a:ext cx="14847109" cy="1273039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73249">
                  <a:extLst>
                    <a:ext uri="{9D8B030D-6E8A-4147-A177-3AD203B41FA5}">
                      <a16:colId xmlns:a16="http://schemas.microsoft.com/office/drawing/2014/main" val="552451989"/>
                    </a:ext>
                  </a:extLst>
                </a:gridCol>
                <a:gridCol w="2300403">
                  <a:extLst>
                    <a:ext uri="{9D8B030D-6E8A-4147-A177-3AD203B41FA5}">
                      <a16:colId xmlns:a16="http://schemas.microsoft.com/office/drawing/2014/main" val="2871387490"/>
                    </a:ext>
                  </a:extLst>
                </a:gridCol>
                <a:gridCol w="2462333">
                  <a:extLst>
                    <a:ext uri="{9D8B030D-6E8A-4147-A177-3AD203B41FA5}">
                      <a16:colId xmlns:a16="http://schemas.microsoft.com/office/drawing/2014/main" val="1956927319"/>
                    </a:ext>
                  </a:extLst>
                </a:gridCol>
                <a:gridCol w="2307360">
                  <a:extLst>
                    <a:ext uri="{9D8B030D-6E8A-4147-A177-3AD203B41FA5}">
                      <a16:colId xmlns:a16="http://schemas.microsoft.com/office/drawing/2014/main" val="3398268588"/>
                    </a:ext>
                  </a:extLst>
                </a:gridCol>
                <a:gridCol w="2928148">
                  <a:extLst>
                    <a:ext uri="{9D8B030D-6E8A-4147-A177-3AD203B41FA5}">
                      <a16:colId xmlns:a16="http://schemas.microsoft.com/office/drawing/2014/main" val="2441364930"/>
                    </a:ext>
                  </a:extLst>
                </a:gridCol>
                <a:gridCol w="2775616">
                  <a:extLst>
                    <a:ext uri="{9D8B030D-6E8A-4147-A177-3AD203B41FA5}">
                      <a16:colId xmlns:a16="http://schemas.microsoft.com/office/drawing/2014/main" val="1176069538"/>
                    </a:ext>
                  </a:extLst>
                </a:gridCol>
              </a:tblGrid>
              <a:tr h="129705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100t</a:t>
                      </a:r>
                    </a:p>
                    <a:p>
                      <a:pPr algn="ctr"/>
                      <a:r>
                        <a:rPr lang="en-US" altLang="zh-CN" sz="3200" b="1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0510-2</a:t>
                      </a:r>
                      <a:endParaRPr lang="zh-CN" altLang="en-US" sz="3200" b="1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85343" marR="85343" marT="42672" marB="426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P</a:t>
                      </a:r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W</a:t>
                      </a:r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）</a:t>
                      </a:r>
                    </a:p>
                  </a:txBody>
                  <a:tcPr marL="85343" marR="85343" marT="42672" marB="426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V</a:t>
                      </a:r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mm/s</a:t>
                      </a:r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）</a:t>
                      </a:r>
                    </a:p>
                  </a:txBody>
                  <a:tcPr marL="85343" marR="85343" marT="42672" marB="426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H</a:t>
                      </a:r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3200" baseline="0" dirty="0" err="1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μm</a:t>
                      </a:r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）</a:t>
                      </a:r>
                    </a:p>
                  </a:txBody>
                  <a:tcPr marL="85343" marR="85343" marT="42672" marB="426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E</a:t>
                      </a:r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J/mm</a:t>
                      </a:r>
                      <a:r>
                        <a:rPr lang="en-US" altLang="zh-CN" sz="3200" baseline="3000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3</a:t>
                      </a:r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）</a:t>
                      </a:r>
                    </a:p>
                  </a:txBody>
                  <a:tcPr marL="85343" marR="85343" marT="42672" marB="42672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排水法（</a:t>
                      </a:r>
                      <a:r>
                        <a:rPr lang="en-US" altLang="zh-CN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%</a:t>
                      </a:r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240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+mn-cs"/>
                      </a:endParaRPr>
                    </a:p>
                  </a:txBody>
                  <a:tcPr marL="85343" marR="85343" marT="42672" marB="426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14407822"/>
                  </a:ext>
                </a:extLst>
              </a:tr>
              <a:tr h="8166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410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48.24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006203"/>
                  </a:ext>
                </a:extLst>
              </a:tr>
              <a:tr h="8166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2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420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49.41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6256508"/>
                  </a:ext>
                </a:extLst>
              </a:tr>
              <a:tr h="8166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3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415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43.68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9028251"/>
                  </a:ext>
                </a:extLst>
              </a:tr>
              <a:tr h="8166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4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415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883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44.74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9111007"/>
                  </a:ext>
                </a:extLst>
              </a:tr>
              <a:tr h="8166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5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47.06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2907599"/>
                  </a:ext>
                </a:extLst>
              </a:tr>
              <a:tr h="8166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6</a:t>
                      </a:r>
                      <a:r>
                        <a:rPr lang="zh-CN" altLang="en-US" sz="3600" b="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405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54.00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1396497"/>
                  </a:ext>
                </a:extLst>
              </a:tr>
              <a:tr h="8166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7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405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817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52.20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5646719"/>
                  </a:ext>
                </a:extLst>
              </a:tr>
              <a:tr h="8166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8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415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55.33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7403385"/>
                  </a:ext>
                </a:extLst>
              </a:tr>
              <a:tr h="8166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9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415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817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53.49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8482605"/>
                  </a:ext>
                </a:extLst>
              </a:tr>
              <a:tr h="8166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10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405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42.63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7994225"/>
                  </a:ext>
                </a:extLst>
              </a:tr>
              <a:tr h="8166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11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410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917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47.08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8156420"/>
                  </a:ext>
                </a:extLst>
              </a:tr>
              <a:tr h="8166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12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405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883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43.66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329977"/>
                  </a:ext>
                </a:extLst>
              </a:tr>
              <a:tr h="8166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13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410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783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49.85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2778211"/>
                  </a:ext>
                </a:extLst>
              </a:tr>
              <a:tr h="8166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14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783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53.75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66081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471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BE3BCEF4-CE90-680F-664E-D17757C715B1}"/>
              </a:ext>
            </a:extLst>
          </p:cNvPr>
          <p:cNvSpPr txBox="1"/>
          <p:nvPr/>
        </p:nvSpPr>
        <p:spPr>
          <a:xfrm>
            <a:off x="14408011" y="278800"/>
            <a:ext cx="7183716" cy="193899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zh-CN" altLang="en-US" sz="6000" dirty="0">
                <a:latin typeface="Times New Roman" panose="02020603050405020304" pitchFamily="18" charset="0"/>
                <a:ea typeface="楷体" panose="02010609060101010101" pitchFamily="49" charset="-122"/>
              </a:rPr>
              <a:t>各层厚工艺参数数据</a:t>
            </a:r>
            <a:endParaRPr lang="en-US" altLang="zh-CN" sz="60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algn="ctr"/>
            <a:r>
              <a:rPr lang="en-US" altLang="zh-CN" sz="60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12</a:t>
            </a:r>
            <a:r>
              <a:rPr lang="en-US" altLang="zh-CN" sz="6000" b="1" baseline="0" dirty="0">
                <a:latin typeface="Times New Roman" panose="02020603050405020304" pitchFamily="18" charset="0"/>
                <a:ea typeface="楷体" panose="02010609060101010101" pitchFamily="49" charset="-122"/>
              </a:rPr>
              <a:t>0μm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1A8EE9FA-BF55-52EA-D839-2614F4794CFA}"/>
              </a:ext>
            </a:extLst>
          </p:cNvPr>
          <p:cNvGraphicFramePr>
            <a:graphicFrameLocks noGrp="1"/>
          </p:cNvGraphicFramePr>
          <p:nvPr/>
        </p:nvGraphicFramePr>
        <p:xfrm>
          <a:off x="577739" y="4607161"/>
          <a:ext cx="11415255" cy="117635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07790">
                  <a:extLst>
                    <a:ext uri="{9D8B030D-6E8A-4147-A177-3AD203B41FA5}">
                      <a16:colId xmlns:a16="http://schemas.microsoft.com/office/drawing/2014/main" val="552451989"/>
                    </a:ext>
                  </a:extLst>
                </a:gridCol>
                <a:gridCol w="1613542">
                  <a:extLst>
                    <a:ext uri="{9D8B030D-6E8A-4147-A177-3AD203B41FA5}">
                      <a16:colId xmlns:a16="http://schemas.microsoft.com/office/drawing/2014/main" val="2871387490"/>
                    </a:ext>
                  </a:extLst>
                </a:gridCol>
                <a:gridCol w="1882465">
                  <a:extLst>
                    <a:ext uri="{9D8B030D-6E8A-4147-A177-3AD203B41FA5}">
                      <a16:colId xmlns:a16="http://schemas.microsoft.com/office/drawing/2014/main" val="1956927319"/>
                    </a:ext>
                  </a:extLst>
                </a:gridCol>
                <a:gridCol w="1682872">
                  <a:extLst>
                    <a:ext uri="{9D8B030D-6E8A-4147-A177-3AD203B41FA5}">
                      <a16:colId xmlns:a16="http://schemas.microsoft.com/office/drawing/2014/main" val="3398268588"/>
                    </a:ext>
                  </a:extLst>
                </a:gridCol>
                <a:gridCol w="2257834">
                  <a:extLst>
                    <a:ext uri="{9D8B030D-6E8A-4147-A177-3AD203B41FA5}">
                      <a16:colId xmlns:a16="http://schemas.microsoft.com/office/drawing/2014/main" val="2441364930"/>
                    </a:ext>
                  </a:extLst>
                </a:gridCol>
                <a:gridCol w="2470752">
                  <a:extLst>
                    <a:ext uri="{9D8B030D-6E8A-4147-A177-3AD203B41FA5}">
                      <a16:colId xmlns:a16="http://schemas.microsoft.com/office/drawing/2014/main" val="1174697985"/>
                    </a:ext>
                  </a:extLst>
                </a:gridCol>
              </a:tblGrid>
              <a:tr h="128329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120μm</a:t>
                      </a:r>
                    </a:p>
                    <a:p>
                      <a:pPr algn="ctr"/>
                      <a:r>
                        <a:rPr lang="en-US" altLang="zh-CN" sz="2800" b="1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03.22</a:t>
                      </a:r>
                      <a:endParaRPr lang="zh-CN" altLang="en-US" sz="2800" b="1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85343" marR="85343" marT="42672" marB="426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P</a:t>
                      </a:r>
                      <a:r>
                        <a:rPr lang="zh-CN" altLang="en-US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W</a:t>
                      </a:r>
                      <a:r>
                        <a:rPr lang="zh-CN" altLang="en-US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）</a:t>
                      </a:r>
                    </a:p>
                  </a:txBody>
                  <a:tcPr marL="85343" marR="85343" marT="42672" marB="426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V</a:t>
                      </a:r>
                      <a:r>
                        <a:rPr lang="zh-CN" altLang="en-US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mm/s</a:t>
                      </a:r>
                      <a:r>
                        <a:rPr lang="zh-CN" altLang="en-US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）</a:t>
                      </a:r>
                    </a:p>
                  </a:txBody>
                  <a:tcPr marL="85343" marR="85343" marT="42672" marB="426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H</a:t>
                      </a:r>
                      <a:r>
                        <a:rPr lang="zh-CN" altLang="en-US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2800" baseline="0" dirty="0" err="1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μm</a:t>
                      </a:r>
                      <a:r>
                        <a:rPr lang="zh-CN" altLang="en-US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）</a:t>
                      </a:r>
                    </a:p>
                  </a:txBody>
                  <a:tcPr marL="85343" marR="85343" marT="42672" marB="426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E</a:t>
                      </a:r>
                      <a:r>
                        <a:rPr lang="zh-CN" altLang="en-US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J/mm</a:t>
                      </a:r>
                      <a:r>
                        <a:rPr lang="en-US" altLang="zh-CN" sz="2800" baseline="3000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3</a:t>
                      </a:r>
                      <a:r>
                        <a:rPr lang="zh-CN" altLang="en-US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）</a:t>
                      </a:r>
                    </a:p>
                  </a:txBody>
                  <a:tcPr marL="85343" marR="85343" marT="42672" marB="42672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aseline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排水法致密度（</a:t>
                      </a:r>
                      <a:r>
                        <a:rPr lang="en-US" altLang="zh-CN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%</a:t>
                      </a:r>
                      <a:r>
                        <a:rPr lang="zh-CN" altLang="en-US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280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+mn-cs"/>
                      </a:endParaRPr>
                    </a:p>
                  </a:txBody>
                  <a:tcPr marL="85343" marR="85343" marT="42672" marB="426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14407822"/>
                  </a:ext>
                </a:extLst>
              </a:tr>
              <a:tr h="74858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</a:t>
                      </a:r>
                      <a:r>
                        <a:rPr lang="zh-CN" altLang="en-US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430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37.72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99.4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006203"/>
                  </a:ext>
                </a:extLst>
              </a:tr>
              <a:tr h="74858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2</a:t>
                      </a:r>
                      <a:r>
                        <a:rPr lang="zh-CN" altLang="en-US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39.47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99.4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6256508"/>
                  </a:ext>
                </a:extLst>
              </a:tr>
              <a:tr h="74858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3</a:t>
                      </a:r>
                      <a:r>
                        <a:rPr lang="zh-CN" altLang="en-US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440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31.88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9028251"/>
                  </a:ext>
                </a:extLst>
              </a:tr>
              <a:tr h="74858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4</a:t>
                      </a:r>
                      <a:r>
                        <a:rPr lang="zh-CN" altLang="en-US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440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1017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32.78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9111007"/>
                  </a:ext>
                </a:extLst>
              </a:tr>
              <a:tr h="74858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5</a:t>
                      </a:r>
                      <a:r>
                        <a:rPr lang="zh-CN" altLang="en-US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410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35.96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2907599"/>
                  </a:ext>
                </a:extLst>
              </a:tr>
              <a:tr h="74858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6</a:t>
                      </a:r>
                      <a:r>
                        <a:rPr lang="zh-CN" altLang="en-US" sz="3200" b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420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46.67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1396497"/>
                  </a:ext>
                </a:extLst>
              </a:tr>
              <a:tr h="74858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7</a:t>
                      </a:r>
                      <a:r>
                        <a:rPr lang="zh-CN" altLang="en-US" sz="3200" b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420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883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44.03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5646719"/>
                  </a:ext>
                </a:extLst>
              </a:tr>
              <a:tr h="74858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8</a:t>
                      </a:r>
                      <a:r>
                        <a:rPr lang="zh-CN" altLang="en-US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440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48.89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7403385"/>
                  </a:ext>
                </a:extLst>
              </a:tr>
              <a:tr h="74858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9</a:t>
                      </a:r>
                      <a:r>
                        <a:rPr lang="zh-CN" altLang="en-US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440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883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46.13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8482605"/>
                  </a:ext>
                </a:extLst>
              </a:tr>
              <a:tr h="74858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10</a:t>
                      </a:r>
                      <a:r>
                        <a:rPr lang="zh-CN" altLang="en-US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420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30.43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98.8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7994225"/>
                  </a:ext>
                </a:extLst>
              </a:tr>
              <a:tr h="74858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11</a:t>
                      </a:r>
                      <a:r>
                        <a:rPr lang="zh-CN" altLang="en-US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430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1083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36.75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8156420"/>
                  </a:ext>
                </a:extLst>
              </a:tr>
              <a:tr h="74858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12</a:t>
                      </a:r>
                      <a:r>
                        <a:rPr lang="zh-CN" altLang="en-US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420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1017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31.29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329977"/>
                  </a:ext>
                </a:extLst>
              </a:tr>
              <a:tr h="74858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13</a:t>
                      </a:r>
                      <a:r>
                        <a:rPr lang="zh-CN" altLang="en-US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430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817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39.88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2778211"/>
                  </a:ext>
                </a:extLst>
              </a:tr>
              <a:tr h="74858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14</a:t>
                      </a:r>
                      <a:r>
                        <a:rPr lang="zh-CN" altLang="en-US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410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817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46.48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6608141"/>
                  </a:ext>
                </a:extLst>
              </a:tr>
            </a:tbl>
          </a:graphicData>
        </a:graphic>
      </p:graphicFrame>
      <p:graphicFrame>
        <p:nvGraphicFramePr>
          <p:cNvPr id="5" name="表格 3">
            <a:extLst>
              <a:ext uri="{FF2B5EF4-FFF2-40B4-BE49-F238E27FC236}">
                <a16:creationId xmlns:a16="http://schemas.microsoft.com/office/drawing/2014/main" id="{2C269FEB-5A75-EF51-56B6-0C516A68A272}"/>
              </a:ext>
            </a:extLst>
          </p:cNvPr>
          <p:cNvGraphicFramePr>
            <a:graphicFrameLocks noGrp="1"/>
          </p:cNvGraphicFramePr>
          <p:nvPr/>
        </p:nvGraphicFramePr>
        <p:xfrm>
          <a:off x="23833391" y="4607160"/>
          <a:ext cx="11415255" cy="117635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07790">
                  <a:extLst>
                    <a:ext uri="{9D8B030D-6E8A-4147-A177-3AD203B41FA5}">
                      <a16:colId xmlns:a16="http://schemas.microsoft.com/office/drawing/2014/main" val="552451989"/>
                    </a:ext>
                  </a:extLst>
                </a:gridCol>
                <a:gridCol w="1613542">
                  <a:extLst>
                    <a:ext uri="{9D8B030D-6E8A-4147-A177-3AD203B41FA5}">
                      <a16:colId xmlns:a16="http://schemas.microsoft.com/office/drawing/2014/main" val="2871387490"/>
                    </a:ext>
                  </a:extLst>
                </a:gridCol>
                <a:gridCol w="1882465">
                  <a:extLst>
                    <a:ext uri="{9D8B030D-6E8A-4147-A177-3AD203B41FA5}">
                      <a16:colId xmlns:a16="http://schemas.microsoft.com/office/drawing/2014/main" val="1956927319"/>
                    </a:ext>
                  </a:extLst>
                </a:gridCol>
                <a:gridCol w="1682872">
                  <a:extLst>
                    <a:ext uri="{9D8B030D-6E8A-4147-A177-3AD203B41FA5}">
                      <a16:colId xmlns:a16="http://schemas.microsoft.com/office/drawing/2014/main" val="3398268588"/>
                    </a:ext>
                  </a:extLst>
                </a:gridCol>
                <a:gridCol w="2257834">
                  <a:extLst>
                    <a:ext uri="{9D8B030D-6E8A-4147-A177-3AD203B41FA5}">
                      <a16:colId xmlns:a16="http://schemas.microsoft.com/office/drawing/2014/main" val="2441364930"/>
                    </a:ext>
                  </a:extLst>
                </a:gridCol>
                <a:gridCol w="2470752">
                  <a:extLst>
                    <a:ext uri="{9D8B030D-6E8A-4147-A177-3AD203B41FA5}">
                      <a16:colId xmlns:a16="http://schemas.microsoft.com/office/drawing/2014/main" val="1174697985"/>
                    </a:ext>
                  </a:extLst>
                </a:gridCol>
              </a:tblGrid>
              <a:tr h="128329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120μm</a:t>
                      </a:r>
                    </a:p>
                    <a:p>
                      <a:pPr algn="ctr"/>
                      <a:r>
                        <a:rPr lang="en-US" altLang="zh-CN" sz="2800" b="1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03.30-2</a:t>
                      </a:r>
                      <a:endParaRPr lang="zh-CN" altLang="en-US" sz="2800" b="1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85343" marR="85343" marT="42672" marB="426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P</a:t>
                      </a:r>
                      <a:r>
                        <a:rPr lang="zh-CN" altLang="en-US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W</a:t>
                      </a:r>
                      <a:r>
                        <a:rPr lang="zh-CN" altLang="en-US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）</a:t>
                      </a:r>
                    </a:p>
                  </a:txBody>
                  <a:tcPr marL="85343" marR="85343" marT="42672" marB="426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V</a:t>
                      </a:r>
                      <a:r>
                        <a:rPr lang="zh-CN" altLang="en-US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mm/s</a:t>
                      </a:r>
                      <a:r>
                        <a:rPr lang="zh-CN" altLang="en-US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）</a:t>
                      </a:r>
                    </a:p>
                  </a:txBody>
                  <a:tcPr marL="85343" marR="85343" marT="42672" marB="426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H</a:t>
                      </a:r>
                      <a:r>
                        <a:rPr lang="zh-CN" altLang="en-US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2800" baseline="0" dirty="0" err="1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μm</a:t>
                      </a:r>
                      <a:r>
                        <a:rPr lang="zh-CN" altLang="en-US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）</a:t>
                      </a:r>
                    </a:p>
                  </a:txBody>
                  <a:tcPr marL="85343" marR="85343" marT="42672" marB="426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E</a:t>
                      </a:r>
                      <a:r>
                        <a:rPr lang="zh-CN" altLang="en-US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J/mm</a:t>
                      </a:r>
                      <a:r>
                        <a:rPr lang="en-US" altLang="zh-CN" sz="2800" baseline="3000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3</a:t>
                      </a:r>
                      <a:r>
                        <a:rPr lang="zh-CN" altLang="en-US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）</a:t>
                      </a:r>
                    </a:p>
                  </a:txBody>
                  <a:tcPr marL="85343" marR="85343" marT="42672" marB="42672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aseline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排水法致密度（</a:t>
                      </a:r>
                      <a:r>
                        <a:rPr lang="en-US" altLang="zh-CN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%</a:t>
                      </a:r>
                      <a:r>
                        <a:rPr lang="zh-CN" altLang="en-US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280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+mn-cs"/>
                      </a:endParaRPr>
                    </a:p>
                  </a:txBody>
                  <a:tcPr marL="85343" marR="85343" marT="42672" marB="426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14407822"/>
                  </a:ext>
                </a:extLst>
              </a:tr>
              <a:tr h="74858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</a:t>
                      </a:r>
                      <a:r>
                        <a:rPr lang="zh-CN" altLang="en-US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435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40.17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006203"/>
                  </a:ext>
                </a:extLst>
              </a:tr>
              <a:tr h="74858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2</a:t>
                      </a:r>
                      <a:r>
                        <a:rPr lang="zh-CN" altLang="en-US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445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41.09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6256508"/>
                  </a:ext>
                </a:extLst>
              </a:tr>
              <a:tr h="74858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3</a:t>
                      </a:r>
                      <a:r>
                        <a:rPr lang="zh-CN" altLang="en-US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440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36.76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9028251"/>
                  </a:ext>
                </a:extLst>
              </a:tr>
              <a:tr h="74858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4</a:t>
                      </a:r>
                      <a:r>
                        <a:rPr lang="zh-CN" altLang="en-US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440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983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37.29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9111007"/>
                  </a:ext>
                </a:extLst>
              </a:tr>
              <a:tr h="74858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5</a:t>
                      </a:r>
                      <a:r>
                        <a:rPr lang="zh-CN" altLang="en-US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425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39.24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2907599"/>
                  </a:ext>
                </a:extLst>
              </a:tr>
              <a:tr h="74858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6</a:t>
                      </a:r>
                      <a:r>
                        <a:rPr lang="zh-CN" altLang="en-US" sz="3200" b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430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44.38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1396497"/>
                  </a:ext>
                </a:extLst>
              </a:tr>
              <a:tr h="74858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7</a:t>
                      </a:r>
                      <a:r>
                        <a:rPr lang="zh-CN" altLang="en-US" sz="3200" b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430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917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43.44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5646719"/>
                  </a:ext>
                </a:extLst>
              </a:tr>
              <a:tr h="74858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8</a:t>
                      </a:r>
                      <a:r>
                        <a:rPr lang="zh-CN" altLang="en-US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440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45.41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7403385"/>
                  </a:ext>
                </a:extLst>
              </a:tr>
              <a:tr h="74858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9</a:t>
                      </a:r>
                      <a:r>
                        <a:rPr lang="zh-CN" altLang="en-US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440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917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44.45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8482605"/>
                  </a:ext>
                </a:extLst>
              </a:tr>
              <a:tr h="74858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10</a:t>
                      </a:r>
                      <a:r>
                        <a:rPr lang="zh-CN" altLang="en-US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430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35.92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7994225"/>
                  </a:ext>
                </a:extLst>
              </a:tr>
              <a:tr h="74858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11</a:t>
                      </a:r>
                      <a:r>
                        <a:rPr lang="zh-CN" altLang="en-US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435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1017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39.62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8156420"/>
                  </a:ext>
                </a:extLst>
              </a:tr>
              <a:tr h="74858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12</a:t>
                      </a:r>
                      <a:r>
                        <a:rPr lang="zh-CN" altLang="en-US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430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983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36.44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329977"/>
                  </a:ext>
                </a:extLst>
              </a:tr>
              <a:tr h="74858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13</a:t>
                      </a:r>
                      <a:r>
                        <a:rPr lang="zh-CN" altLang="en-US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435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883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41.04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2778211"/>
                  </a:ext>
                </a:extLst>
              </a:tr>
              <a:tr h="74858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14</a:t>
                      </a:r>
                      <a:r>
                        <a:rPr lang="zh-CN" altLang="en-US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425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883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44.55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6608141"/>
                  </a:ext>
                </a:extLst>
              </a:tr>
            </a:tbl>
          </a:graphicData>
        </a:graphic>
      </p:graphicFrame>
      <p:graphicFrame>
        <p:nvGraphicFramePr>
          <p:cNvPr id="6" name="表格 3">
            <a:extLst>
              <a:ext uri="{FF2B5EF4-FFF2-40B4-BE49-F238E27FC236}">
                <a16:creationId xmlns:a16="http://schemas.microsoft.com/office/drawing/2014/main" id="{1B0BC881-AEE9-3E58-F5AC-FEDA1A07C09D}"/>
              </a:ext>
            </a:extLst>
          </p:cNvPr>
          <p:cNvGraphicFramePr>
            <a:graphicFrameLocks noGrp="1"/>
          </p:cNvGraphicFramePr>
          <p:nvPr/>
        </p:nvGraphicFramePr>
        <p:xfrm>
          <a:off x="12205565" y="4607160"/>
          <a:ext cx="11415255" cy="117635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07790">
                  <a:extLst>
                    <a:ext uri="{9D8B030D-6E8A-4147-A177-3AD203B41FA5}">
                      <a16:colId xmlns:a16="http://schemas.microsoft.com/office/drawing/2014/main" val="552451989"/>
                    </a:ext>
                  </a:extLst>
                </a:gridCol>
                <a:gridCol w="1613542">
                  <a:extLst>
                    <a:ext uri="{9D8B030D-6E8A-4147-A177-3AD203B41FA5}">
                      <a16:colId xmlns:a16="http://schemas.microsoft.com/office/drawing/2014/main" val="2871387490"/>
                    </a:ext>
                  </a:extLst>
                </a:gridCol>
                <a:gridCol w="1882465">
                  <a:extLst>
                    <a:ext uri="{9D8B030D-6E8A-4147-A177-3AD203B41FA5}">
                      <a16:colId xmlns:a16="http://schemas.microsoft.com/office/drawing/2014/main" val="1956927319"/>
                    </a:ext>
                  </a:extLst>
                </a:gridCol>
                <a:gridCol w="1682872">
                  <a:extLst>
                    <a:ext uri="{9D8B030D-6E8A-4147-A177-3AD203B41FA5}">
                      <a16:colId xmlns:a16="http://schemas.microsoft.com/office/drawing/2014/main" val="3398268588"/>
                    </a:ext>
                  </a:extLst>
                </a:gridCol>
                <a:gridCol w="2257834">
                  <a:extLst>
                    <a:ext uri="{9D8B030D-6E8A-4147-A177-3AD203B41FA5}">
                      <a16:colId xmlns:a16="http://schemas.microsoft.com/office/drawing/2014/main" val="2441364930"/>
                    </a:ext>
                  </a:extLst>
                </a:gridCol>
                <a:gridCol w="2470752">
                  <a:extLst>
                    <a:ext uri="{9D8B030D-6E8A-4147-A177-3AD203B41FA5}">
                      <a16:colId xmlns:a16="http://schemas.microsoft.com/office/drawing/2014/main" val="1174697985"/>
                    </a:ext>
                  </a:extLst>
                </a:gridCol>
              </a:tblGrid>
              <a:tr h="128329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120μm</a:t>
                      </a:r>
                    </a:p>
                    <a:p>
                      <a:pPr algn="ctr"/>
                      <a:r>
                        <a:rPr lang="en-US" altLang="zh-CN" sz="2800" b="1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03.30-1</a:t>
                      </a:r>
                      <a:endParaRPr lang="zh-CN" altLang="en-US" sz="2800" b="1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85343" marR="85343" marT="42672" marB="426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P</a:t>
                      </a:r>
                      <a:r>
                        <a:rPr lang="zh-CN" altLang="en-US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W</a:t>
                      </a:r>
                      <a:r>
                        <a:rPr lang="zh-CN" altLang="en-US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）</a:t>
                      </a:r>
                    </a:p>
                  </a:txBody>
                  <a:tcPr marL="85343" marR="85343" marT="42672" marB="426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V</a:t>
                      </a:r>
                      <a:r>
                        <a:rPr lang="zh-CN" altLang="en-US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mm/s</a:t>
                      </a:r>
                      <a:r>
                        <a:rPr lang="zh-CN" altLang="en-US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）</a:t>
                      </a:r>
                    </a:p>
                  </a:txBody>
                  <a:tcPr marL="85343" marR="85343" marT="42672" marB="426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H</a:t>
                      </a:r>
                      <a:r>
                        <a:rPr lang="zh-CN" altLang="en-US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2800" baseline="0" dirty="0" err="1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μm</a:t>
                      </a:r>
                      <a:r>
                        <a:rPr lang="zh-CN" altLang="en-US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）</a:t>
                      </a:r>
                    </a:p>
                  </a:txBody>
                  <a:tcPr marL="85343" marR="85343" marT="42672" marB="426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E</a:t>
                      </a:r>
                      <a:r>
                        <a:rPr lang="zh-CN" altLang="en-US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J/mm</a:t>
                      </a:r>
                      <a:r>
                        <a:rPr lang="en-US" altLang="zh-CN" sz="2800" baseline="3000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3</a:t>
                      </a:r>
                      <a:r>
                        <a:rPr lang="zh-CN" altLang="en-US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）</a:t>
                      </a:r>
                    </a:p>
                  </a:txBody>
                  <a:tcPr marL="85343" marR="85343" marT="42672" marB="42672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aseline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排水法致密度（</a:t>
                      </a:r>
                      <a:r>
                        <a:rPr lang="en-US" altLang="zh-CN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%</a:t>
                      </a:r>
                      <a:r>
                        <a:rPr lang="zh-CN" altLang="en-US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280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+mn-cs"/>
                      </a:endParaRPr>
                    </a:p>
                  </a:txBody>
                  <a:tcPr marL="85343" marR="85343" marT="42672" marB="426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14407822"/>
                  </a:ext>
                </a:extLst>
              </a:tr>
              <a:tr h="74858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</a:t>
                      </a:r>
                      <a:r>
                        <a:rPr lang="zh-CN" altLang="en-US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39.47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006203"/>
                  </a:ext>
                </a:extLst>
              </a:tr>
              <a:tr h="74858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2</a:t>
                      </a:r>
                      <a:r>
                        <a:rPr lang="zh-CN" altLang="en-US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460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40.35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6256508"/>
                  </a:ext>
                </a:extLst>
              </a:tr>
              <a:tr h="74858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3</a:t>
                      </a:r>
                      <a:r>
                        <a:rPr lang="zh-CN" altLang="en-US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455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36.11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9028251"/>
                  </a:ext>
                </a:extLst>
              </a:tr>
              <a:tr h="74858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4</a:t>
                      </a:r>
                      <a:r>
                        <a:rPr lang="zh-CN" altLang="en-US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455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983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36.72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98.7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9111007"/>
                  </a:ext>
                </a:extLst>
              </a:tr>
              <a:tr h="74858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5</a:t>
                      </a:r>
                      <a:r>
                        <a:rPr lang="zh-CN" altLang="en-US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440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38.60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2907599"/>
                  </a:ext>
                </a:extLst>
              </a:tr>
              <a:tr h="74858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6</a:t>
                      </a:r>
                      <a:r>
                        <a:rPr lang="zh-CN" altLang="en-US" sz="3200" b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445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43.63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1396497"/>
                  </a:ext>
                </a:extLst>
              </a:tr>
              <a:tr h="74858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7</a:t>
                      </a:r>
                      <a:r>
                        <a:rPr lang="zh-CN" altLang="en-US" sz="3200" b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445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917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42.59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5646719"/>
                  </a:ext>
                </a:extLst>
              </a:tr>
              <a:tr h="74858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8</a:t>
                      </a:r>
                      <a:r>
                        <a:rPr lang="zh-CN" altLang="en-US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455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44.61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7403385"/>
                  </a:ext>
                </a:extLst>
              </a:tr>
              <a:tr h="74858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9</a:t>
                      </a:r>
                      <a:r>
                        <a:rPr lang="zh-CN" altLang="en-US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455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917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43.54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8482605"/>
                  </a:ext>
                </a:extLst>
              </a:tr>
              <a:tr h="74858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10</a:t>
                      </a:r>
                      <a:r>
                        <a:rPr lang="zh-CN" altLang="en-US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445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35.32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7994225"/>
                  </a:ext>
                </a:extLst>
              </a:tr>
              <a:tr h="74858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11</a:t>
                      </a:r>
                      <a:r>
                        <a:rPr lang="zh-CN" altLang="en-US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1017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38.83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8156420"/>
                  </a:ext>
                </a:extLst>
              </a:tr>
              <a:tr h="74858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12</a:t>
                      </a:r>
                      <a:r>
                        <a:rPr lang="zh-CN" altLang="en-US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445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983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35.91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329977"/>
                  </a:ext>
                </a:extLst>
              </a:tr>
              <a:tr h="74858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13</a:t>
                      </a:r>
                      <a:r>
                        <a:rPr lang="zh-CN" altLang="en-US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883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40.43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2778211"/>
                  </a:ext>
                </a:extLst>
              </a:tr>
              <a:tr h="74858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14</a:t>
                      </a:r>
                      <a:r>
                        <a:rPr lang="zh-CN" altLang="en-US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440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883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43.69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6608141"/>
                  </a:ext>
                </a:extLst>
              </a:tr>
            </a:tbl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37EF675-E8EA-F074-790C-6E9720E71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DA75-3C22-4B54-ACF8-63972908B48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11201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A13718F8-E69D-3234-C6B3-7AD76B71635D}"/>
              </a:ext>
            </a:extLst>
          </p:cNvPr>
          <p:cNvGrpSpPr/>
          <p:nvPr/>
        </p:nvGrpSpPr>
        <p:grpSpPr>
          <a:xfrm>
            <a:off x="18187948" y="7532914"/>
            <a:ext cx="17632992" cy="10251143"/>
            <a:chOff x="18187948" y="7532914"/>
            <a:chExt cx="17632992" cy="10251143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1555BC02-EA0A-9F61-AA83-865183506B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839606" y="7532914"/>
              <a:ext cx="5981334" cy="10251143"/>
            </a:xfrm>
            <a:prstGeom prst="rect">
              <a:avLst/>
            </a:prstGeom>
          </p:spPr>
        </p:pic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20A9E9F1-E7FD-AE4A-2366-9B7EAB1367FB}"/>
                </a:ext>
              </a:extLst>
            </p:cNvPr>
            <p:cNvGrpSpPr/>
            <p:nvPr/>
          </p:nvGrpSpPr>
          <p:grpSpPr>
            <a:xfrm>
              <a:off x="18187948" y="7547962"/>
              <a:ext cx="10677120" cy="9571893"/>
              <a:chOff x="12951314" y="5649755"/>
              <a:chExt cx="11306695" cy="9533096"/>
            </a:xfrm>
          </p:grpSpPr>
          <p:pic>
            <p:nvPicPr>
              <p:cNvPr id="6" name="图片 5">
                <a:extLst>
                  <a:ext uri="{FF2B5EF4-FFF2-40B4-BE49-F238E27FC236}">
                    <a16:creationId xmlns:a16="http://schemas.microsoft.com/office/drawing/2014/main" id="{0BA9A42B-8EEC-DDB5-E41E-88CE703F1A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2951314" y="5649755"/>
                <a:ext cx="11306695" cy="9533096"/>
              </a:xfrm>
              <a:prstGeom prst="rect">
                <a:avLst/>
              </a:prstGeom>
            </p:spPr>
          </p:pic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29C24EBF-5983-9D26-72C9-5F3770776EF0}"/>
                  </a:ext>
                </a:extLst>
              </p:cNvPr>
              <p:cNvSpPr txBox="1"/>
              <p:nvPr/>
            </p:nvSpPr>
            <p:spPr>
              <a:xfrm>
                <a:off x="18345150" y="5649755"/>
                <a:ext cx="1240803" cy="5454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3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Hatch</a:t>
                </a:r>
                <a:endParaRPr lang="zh-CN" altLang="en-US" sz="3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35949008-D36F-9973-B956-03D4958E744C}"/>
                  </a:ext>
                </a:extLst>
              </p:cNvPr>
              <p:cNvSpPr txBox="1"/>
              <p:nvPr/>
            </p:nvSpPr>
            <p:spPr>
              <a:xfrm>
                <a:off x="23618194" y="10093137"/>
                <a:ext cx="639815" cy="5454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endParaRPr lang="zh-CN" altLang="en-US" sz="3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52B3137E-6679-C359-1EDE-CFE0742D7C24}"/>
                  </a:ext>
                </a:extLst>
              </p:cNvPr>
              <p:cNvSpPr txBox="1"/>
              <p:nvPr/>
            </p:nvSpPr>
            <p:spPr>
              <a:xfrm>
                <a:off x="22227544" y="13769787"/>
                <a:ext cx="639815" cy="5454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endParaRPr lang="zh-CN" altLang="en-US" sz="3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5FCEF1E0-6D5D-4E90-A6B8-3AB222272B7D}"/>
              </a:ext>
            </a:extLst>
          </p:cNvPr>
          <p:cNvGraphicFramePr>
            <a:graphicFrameLocks noGrp="1"/>
          </p:cNvGraphicFramePr>
          <p:nvPr/>
        </p:nvGraphicFramePr>
        <p:xfrm>
          <a:off x="1407933" y="1442327"/>
          <a:ext cx="33183872" cy="56369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34579">
                  <a:extLst>
                    <a:ext uri="{9D8B030D-6E8A-4147-A177-3AD203B41FA5}">
                      <a16:colId xmlns:a16="http://schemas.microsoft.com/office/drawing/2014/main" val="2811670980"/>
                    </a:ext>
                  </a:extLst>
                </a:gridCol>
                <a:gridCol w="2359742">
                  <a:extLst>
                    <a:ext uri="{9D8B030D-6E8A-4147-A177-3AD203B41FA5}">
                      <a16:colId xmlns:a16="http://schemas.microsoft.com/office/drawing/2014/main" val="3861392607"/>
                    </a:ext>
                  </a:extLst>
                </a:gridCol>
                <a:gridCol w="2005781">
                  <a:extLst>
                    <a:ext uri="{9D8B030D-6E8A-4147-A177-3AD203B41FA5}">
                      <a16:colId xmlns:a16="http://schemas.microsoft.com/office/drawing/2014/main" val="1715277838"/>
                    </a:ext>
                  </a:extLst>
                </a:gridCol>
                <a:gridCol w="1976284">
                  <a:extLst>
                    <a:ext uri="{9D8B030D-6E8A-4147-A177-3AD203B41FA5}">
                      <a16:colId xmlns:a16="http://schemas.microsoft.com/office/drawing/2014/main" val="2673997273"/>
                    </a:ext>
                  </a:extLst>
                </a:gridCol>
                <a:gridCol w="2035277">
                  <a:extLst>
                    <a:ext uri="{9D8B030D-6E8A-4147-A177-3AD203B41FA5}">
                      <a16:colId xmlns:a16="http://schemas.microsoft.com/office/drawing/2014/main" val="338681050"/>
                    </a:ext>
                  </a:extLst>
                </a:gridCol>
                <a:gridCol w="2005781">
                  <a:extLst>
                    <a:ext uri="{9D8B030D-6E8A-4147-A177-3AD203B41FA5}">
                      <a16:colId xmlns:a16="http://schemas.microsoft.com/office/drawing/2014/main" val="1515527789"/>
                    </a:ext>
                  </a:extLst>
                </a:gridCol>
                <a:gridCol w="2153264">
                  <a:extLst>
                    <a:ext uri="{9D8B030D-6E8A-4147-A177-3AD203B41FA5}">
                      <a16:colId xmlns:a16="http://schemas.microsoft.com/office/drawing/2014/main" val="526514793"/>
                    </a:ext>
                  </a:extLst>
                </a:gridCol>
                <a:gridCol w="2013694">
                  <a:extLst>
                    <a:ext uri="{9D8B030D-6E8A-4147-A177-3AD203B41FA5}">
                      <a16:colId xmlns:a16="http://schemas.microsoft.com/office/drawing/2014/main" val="896336954"/>
                    </a:ext>
                  </a:extLst>
                </a:gridCol>
                <a:gridCol w="3177739">
                  <a:extLst>
                    <a:ext uri="{9D8B030D-6E8A-4147-A177-3AD203B41FA5}">
                      <a16:colId xmlns:a16="http://schemas.microsoft.com/office/drawing/2014/main" val="1621307909"/>
                    </a:ext>
                  </a:extLst>
                </a:gridCol>
                <a:gridCol w="2684206">
                  <a:extLst>
                    <a:ext uri="{9D8B030D-6E8A-4147-A177-3AD203B41FA5}">
                      <a16:colId xmlns:a16="http://schemas.microsoft.com/office/drawing/2014/main" val="2858165653"/>
                    </a:ext>
                  </a:extLst>
                </a:gridCol>
                <a:gridCol w="2890684">
                  <a:extLst>
                    <a:ext uri="{9D8B030D-6E8A-4147-A177-3AD203B41FA5}">
                      <a16:colId xmlns:a16="http://schemas.microsoft.com/office/drawing/2014/main" val="2627172804"/>
                    </a:ext>
                  </a:extLst>
                </a:gridCol>
                <a:gridCol w="2928093">
                  <a:extLst>
                    <a:ext uri="{9D8B030D-6E8A-4147-A177-3AD203B41FA5}">
                      <a16:colId xmlns:a16="http://schemas.microsoft.com/office/drawing/2014/main" val="1921722007"/>
                    </a:ext>
                  </a:extLst>
                </a:gridCol>
                <a:gridCol w="3118748">
                  <a:extLst>
                    <a:ext uri="{9D8B030D-6E8A-4147-A177-3AD203B41FA5}">
                      <a16:colId xmlns:a16="http://schemas.microsoft.com/office/drawing/2014/main" val="1218680049"/>
                    </a:ext>
                  </a:extLst>
                </a:gridCol>
              </a:tblGrid>
              <a:tr h="140922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5400" b="1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购粉时间</a:t>
                      </a:r>
                    </a:p>
                  </a:txBody>
                  <a:tcPr anchor="ctr"/>
                </a:tc>
                <a:tc gridSpan="7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6600" b="1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CX</a:t>
                      </a:r>
                      <a:r>
                        <a:rPr lang="zh-CN" altLang="en-US" sz="6600" b="1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化学成分表</a:t>
                      </a:r>
                      <a:r>
                        <a:rPr lang="en-US" altLang="zh-CN" sz="6600" b="1" baseline="0" dirty="0" err="1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wt</a:t>
                      </a:r>
                      <a:r>
                        <a:rPr lang="en-US" altLang="zh-CN" sz="6600" b="1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%</a:t>
                      </a:r>
                      <a:endParaRPr lang="zh-CN" altLang="en-US" sz="6600" b="1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CN" altLang="en-US" sz="5400" b="1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5400" b="1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15-80μm</a:t>
                      </a:r>
                      <a:r>
                        <a:rPr lang="zh-CN" altLang="en-US" sz="5400" b="1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）粒度分布</a:t>
                      </a:r>
                      <a:r>
                        <a:rPr lang="en-US" altLang="zh-CN" sz="5400" b="1" baseline="0" dirty="0" err="1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μm</a:t>
                      </a:r>
                      <a:endParaRPr lang="zh-CN" altLang="en-US" sz="5400" b="1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4400" b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+mn-cs"/>
                        </a:rPr>
                        <a:t>霍尔流速（</a:t>
                      </a:r>
                      <a:r>
                        <a:rPr lang="en-US" altLang="zh-CN" sz="4400" b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+mn-cs"/>
                        </a:rPr>
                        <a:t>s/50g</a:t>
                      </a:r>
                      <a:r>
                        <a:rPr lang="zh-CN" altLang="en-US" sz="4400" b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+mn-cs"/>
                        </a:rPr>
                        <a:t>）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4400" b="1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松装密度（</a:t>
                      </a:r>
                      <a:r>
                        <a:rPr lang="en-US" altLang="zh-CN" sz="4400" b="1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g/cm</a:t>
                      </a:r>
                      <a:r>
                        <a:rPr lang="en-US" altLang="zh-CN" sz="4400" b="1" baseline="3000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3</a:t>
                      </a:r>
                      <a:r>
                        <a:rPr lang="zh-CN" altLang="en-US" sz="4400" b="1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9569408"/>
                  </a:ext>
                </a:extLst>
              </a:tr>
              <a:tr h="1409225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2023.11.04</a:t>
                      </a:r>
                      <a:endParaRPr lang="zh-CN" altLang="en-US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60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Cr</a:t>
                      </a:r>
                      <a:endParaRPr lang="zh-CN" altLang="en-US" sz="6000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60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Ni</a:t>
                      </a:r>
                      <a:endParaRPr lang="zh-CN" altLang="en-US" sz="6000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60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Mo</a:t>
                      </a:r>
                      <a:endParaRPr lang="zh-CN" altLang="en-US" sz="6000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60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Si</a:t>
                      </a:r>
                      <a:endParaRPr lang="zh-CN" altLang="en-US" sz="6000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60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Al</a:t>
                      </a:r>
                      <a:endParaRPr lang="zh-CN" altLang="en-US" sz="6000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60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Mn</a:t>
                      </a:r>
                      <a:endParaRPr lang="zh-CN" altLang="en-US" sz="6000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60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Fe</a:t>
                      </a:r>
                      <a:endParaRPr lang="zh-CN" altLang="en-US" sz="6000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60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D</a:t>
                      </a:r>
                      <a:r>
                        <a:rPr lang="en-US" altLang="zh-CN" sz="6000" baseline="-2500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10</a:t>
                      </a:r>
                      <a:endParaRPr lang="zh-CN" altLang="en-US" sz="6000" baseline="-2500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60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D</a:t>
                      </a:r>
                      <a:r>
                        <a:rPr lang="en-US" altLang="zh-CN" sz="6000" baseline="-2500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50</a:t>
                      </a:r>
                      <a:endParaRPr lang="zh-CN" altLang="en-US" sz="6000" baseline="-2500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60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D</a:t>
                      </a:r>
                      <a:r>
                        <a:rPr lang="en-US" altLang="zh-CN" sz="6000" baseline="-2500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90</a:t>
                      </a:r>
                      <a:endParaRPr lang="zh-CN" altLang="en-US" sz="6000" baseline="-2500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r>
                        <a:rPr lang="zh-CN" altLang="en-US" sz="6000" baseline="-2500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霍尔流速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CN" altLang="en-US" sz="6000" baseline="-2500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8818600"/>
                  </a:ext>
                </a:extLst>
              </a:tr>
              <a:tr h="1409225">
                <a:tc vMerge="1">
                  <a:txBody>
                    <a:bodyPr/>
                    <a:lstStyle/>
                    <a:p>
                      <a:endParaRPr lang="zh-CN" altLang="en-US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54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12.00</a:t>
                      </a:r>
                      <a:endParaRPr lang="zh-CN" altLang="en-US" sz="5400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54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9.20</a:t>
                      </a:r>
                      <a:endParaRPr lang="zh-CN" altLang="en-US" sz="5400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54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1.40</a:t>
                      </a:r>
                      <a:endParaRPr lang="zh-CN" altLang="en-US" sz="5400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54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0.25</a:t>
                      </a:r>
                      <a:endParaRPr lang="zh-CN" altLang="en-US" sz="5400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54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1.65</a:t>
                      </a:r>
                      <a:endParaRPr lang="zh-CN" altLang="en-US" sz="5400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54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0.22</a:t>
                      </a:r>
                      <a:endParaRPr lang="zh-CN" altLang="en-US" sz="5400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54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Bal</a:t>
                      </a:r>
                      <a:endParaRPr lang="zh-CN" altLang="en-US" sz="5400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54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15.36</a:t>
                      </a:r>
                      <a:endParaRPr lang="zh-CN" altLang="en-US" sz="5400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54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49.77</a:t>
                      </a:r>
                      <a:endParaRPr lang="zh-CN" altLang="en-US" sz="5400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54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81.65</a:t>
                      </a:r>
                      <a:endParaRPr lang="zh-CN" altLang="en-US" sz="5400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54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15.47</a:t>
                      </a:r>
                      <a:endParaRPr lang="zh-CN" altLang="en-US" sz="5400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54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4.43</a:t>
                      </a:r>
                      <a:endParaRPr lang="zh-CN" altLang="en-US" sz="5400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4232845"/>
                  </a:ext>
                </a:extLst>
              </a:tr>
              <a:tr h="1409225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2024.01.06</a:t>
                      </a:r>
                      <a:endParaRPr lang="zh-CN" altLang="en-US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54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11.72</a:t>
                      </a:r>
                      <a:endParaRPr lang="zh-CN" altLang="en-US" sz="5400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54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9.59</a:t>
                      </a:r>
                      <a:endParaRPr lang="zh-CN" altLang="en-US" sz="5400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54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1.31</a:t>
                      </a:r>
                      <a:endParaRPr lang="zh-CN" altLang="en-US" sz="5400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54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0.23</a:t>
                      </a:r>
                      <a:endParaRPr lang="zh-CN" altLang="en-US" sz="5400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54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1.73</a:t>
                      </a:r>
                      <a:endParaRPr lang="zh-CN" altLang="en-US" sz="5400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54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0.20</a:t>
                      </a:r>
                      <a:endParaRPr lang="zh-CN" altLang="en-US" sz="5400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54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76.46</a:t>
                      </a:r>
                      <a:endParaRPr lang="zh-CN" altLang="en-US" sz="5400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54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21.62</a:t>
                      </a:r>
                      <a:endParaRPr lang="zh-CN" altLang="en-US" sz="5400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54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47.33</a:t>
                      </a:r>
                      <a:endParaRPr lang="zh-CN" altLang="en-US" sz="5400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54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73.95</a:t>
                      </a:r>
                      <a:endParaRPr lang="zh-CN" altLang="en-US" sz="5400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54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15.57</a:t>
                      </a:r>
                      <a:endParaRPr lang="zh-CN" altLang="en-US" sz="5400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54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4.28</a:t>
                      </a:r>
                      <a:endParaRPr lang="zh-CN" altLang="en-US" sz="5400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3865891"/>
                  </a:ext>
                </a:extLst>
              </a:tr>
            </a:tbl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13345173-66C3-D924-9BD7-BD2C3F8D1BC6}"/>
              </a:ext>
            </a:extLst>
          </p:cNvPr>
          <p:cNvSpPr txBox="1"/>
          <p:nvPr/>
        </p:nvSpPr>
        <p:spPr>
          <a:xfrm>
            <a:off x="1407933" y="8260368"/>
            <a:ext cx="20803139" cy="36740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5400" dirty="0">
                <a:latin typeface="Times New Roman" panose="02020603050405020304" pitchFamily="18" charset="0"/>
                <a:ea typeface="楷体" panose="02010609060101010101" pitchFamily="49" charset="-122"/>
              </a:rPr>
              <a:t>制粉工艺：真空气雾化工艺（气雾化工艺粉末粒径＜</a:t>
            </a:r>
            <a:r>
              <a:rPr lang="en-US" altLang="zh-CN" sz="5400" dirty="0">
                <a:latin typeface="Times New Roman" panose="02020603050405020304" pitchFamily="18" charset="0"/>
                <a:ea typeface="楷体" panose="02010609060101010101" pitchFamily="49" charset="-122"/>
              </a:rPr>
              <a:t>150μm</a:t>
            </a:r>
            <a:r>
              <a:rPr lang="zh-CN" altLang="en-US" sz="5400" dirty="0">
                <a:latin typeface="Times New Roman" panose="02020603050405020304" pitchFamily="18" charset="0"/>
                <a:ea typeface="楷体" panose="02010609060101010101" pitchFamily="49" charset="-122"/>
              </a:rPr>
              <a:t>）</a:t>
            </a:r>
            <a:endParaRPr lang="en-US" altLang="zh-CN" sz="54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5400" dirty="0">
                <a:latin typeface="Times New Roman" panose="02020603050405020304" pitchFamily="18" charset="0"/>
                <a:ea typeface="楷体" panose="02010609060101010101" pitchFamily="49" charset="-122"/>
              </a:rPr>
              <a:t>15-53μm</a:t>
            </a:r>
            <a:r>
              <a:rPr lang="zh-CN" altLang="en-US" sz="5400" dirty="0">
                <a:latin typeface="Times New Roman" panose="02020603050405020304" pitchFamily="18" charset="0"/>
                <a:ea typeface="楷体" panose="02010609060101010101" pitchFamily="49" charset="-122"/>
              </a:rPr>
              <a:t>：</a:t>
            </a:r>
            <a:r>
              <a:rPr lang="en-US" altLang="zh-CN" sz="5400" dirty="0">
                <a:latin typeface="Times New Roman" panose="02020603050405020304" pitchFamily="18" charset="0"/>
                <a:ea typeface="楷体" panose="02010609060101010101" pitchFamily="49" charset="-122"/>
              </a:rPr>
              <a:t>120</a:t>
            </a:r>
            <a:r>
              <a:rPr lang="zh-CN" altLang="en-US" sz="5400" dirty="0">
                <a:latin typeface="Times New Roman" panose="02020603050405020304" pitchFamily="18" charset="0"/>
                <a:ea typeface="楷体" panose="02010609060101010101" pitchFamily="49" charset="-122"/>
              </a:rPr>
              <a:t>元</a:t>
            </a:r>
            <a:r>
              <a:rPr lang="en-US" altLang="zh-CN" sz="5400" dirty="0">
                <a:latin typeface="Times New Roman" panose="02020603050405020304" pitchFamily="18" charset="0"/>
                <a:ea typeface="楷体" panose="02010609060101010101" pitchFamily="49" charset="-122"/>
              </a:rPr>
              <a:t>/</a:t>
            </a:r>
            <a:r>
              <a:rPr lang="zh-CN" altLang="en-US" sz="5400" dirty="0">
                <a:latin typeface="Times New Roman" panose="02020603050405020304" pitchFamily="18" charset="0"/>
                <a:ea typeface="楷体" panose="02010609060101010101" pitchFamily="49" charset="-122"/>
              </a:rPr>
              <a:t>公斤，粉末收得率 </a:t>
            </a:r>
            <a:r>
              <a:rPr lang="en-US" altLang="zh-CN" sz="5400" dirty="0">
                <a:latin typeface="Times New Roman" panose="02020603050405020304" pitchFamily="18" charset="0"/>
                <a:ea typeface="楷体" panose="02010609060101010101" pitchFamily="49" charset="-122"/>
              </a:rPr>
              <a:t>30%</a:t>
            </a:r>
            <a:r>
              <a:rPr lang="zh-CN" altLang="en-US" sz="5400" dirty="0">
                <a:latin typeface="Times New Roman" panose="02020603050405020304" pitchFamily="18" charset="0"/>
                <a:ea typeface="楷体" panose="02010609060101010101" pitchFamily="49" charset="-122"/>
              </a:rPr>
              <a:t>左右</a:t>
            </a:r>
            <a:endParaRPr lang="en-US" altLang="zh-CN" sz="54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5400" dirty="0">
                <a:latin typeface="Times New Roman" panose="02020603050405020304" pitchFamily="18" charset="0"/>
                <a:ea typeface="楷体" panose="02010609060101010101" pitchFamily="49" charset="-122"/>
              </a:rPr>
              <a:t>15-80μm</a:t>
            </a:r>
            <a:r>
              <a:rPr lang="zh-CN" altLang="en-US" sz="5400" dirty="0">
                <a:latin typeface="Times New Roman" panose="02020603050405020304" pitchFamily="18" charset="0"/>
                <a:ea typeface="楷体" panose="02010609060101010101" pitchFamily="49" charset="-122"/>
              </a:rPr>
              <a:t>：</a:t>
            </a:r>
            <a:r>
              <a:rPr lang="en-US" altLang="zh-CN" sz="5400" dirty="0">
                <a:latin typeface="Times New Roman" panose="02020603050405020304" pitchFamily="18" charset="0"/>
                <a:ea typeface="楷体" panose="02010609060101010101" pitchFamily="49" charset="-122"/>
              </a:rPr>
              <a:t>100</a:t>
            </a:r>
            <a:r>
              <a:rPr lang="zh-CN" altLang="en-US" sz="5400" dirty="0">
                <a:latin typeface="Times New Roman" panose="02020603050405020304" pitchFamily="18" charset="0"/>
                <a:ea typeface="楷体" panose="02010609060101010101" pitchFamily="49" charset="-122"/>
              </a:rPr>
              <a:t>元</a:t>
            </a:r>
            <a:r>
              <a:rPr lang="en-US" altLang="zh-CN" sz="5400" dirty="0">
                <a:latin typeface="Times New Roman" panose="02020603050405020304" pitchFamily="18" charset="0"/>
                <a:ea typeface="楷体" panose="02010609060101010101" pitchFamily="49" charset="-122"/>
              </a:rPr>
              <a:t>/</a:t>
            </a:r>
            <a:r>
              <a:rPr lang="zh-CN" altLang="en-US" sz="5400" dirty="0">
                <a:latin typeface="Times New Roman" panose="02020603050405020304" pitchFamily="18" charset="0"/>
                <a:ea typeface="楷体" panose="02010609060101010101" pitchFamily="49" charset="-122"/>
              </a:rPr>
              <a:t>公斤，粉末收得率</a:t>
            </a:r>
            <a:r>
              <a:rPr lang="en-US" altLang="zh-CN" sz="5400" dirty="0">
                <a:latin typeface="Times New Roman" panose="02020603050405020304" pitchFamily="18" charset="0"/>
                <a:ea typeface="楷体" panose="02010609060101010101" pitchFamily="49" charset="-122"/>
              </a:rPr>
              <a:t>35-40%</a:t>
            </a:r>
            <a:endParaRPr lang="zh-CN" altLang="en-US" sz="54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B94EC7D0-2623-426F-16DE-1A17C7862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DA75-3C22-4B54-ACF8-63972908B486}" type="slidenum">
              <a:rPr lang="zh-CN" altLang="en-US" smtClean="0"/>
              <a:t>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952090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汕大校徽940x29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9280" y="-2"/>
            <a:ext cx="9775011" cy="3057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6682105" y="7678420"/>
            <a:ext cx="22635210" cy="1861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5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模具钢大层厚多目标优化算法思路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F4A45783-A3BE-B69D-EB38-82741CC6F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DA75-3C22-4B54-ACF8-63972908B486}" type="slidenum">
              <a:rPr lang="zh-CN" altLang="en-US" smtClean="0"/>
              <a:t>8</a:t>
            </a:fld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汕大校徽940x29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9280" y="-2"/>
            <a:ext cx="9775011" cy="3057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3472180" y="3057525"/>
                <a:ext cx="24258905" cy="1458404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1143000" indent="-1143000" fontAlgn="auto">
                  <a:lnSpc>
                    <a:spcPct val="105000"/>
                  </a:lnSpc>
                  <a:buFont typeface="Arial" panose="020B0604020202020204" pitchFamily="34" charset="0"/>
                  <a:buChar char="•"/>
                </a:pPr>
                <a:r>
                  <a:rPr lang="en-US" sz="8000" b="1" dirty="0" err="1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Multi-objective Optimization</a:t>
                </a:r>
              </a:p>
              <a:p>
                <a:pPr indent="0" fontAlgn="auto">
                  <a:lnSpc>
                    <a:spcPct val="105000"/>
                  </a:lnSpc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 dirty="0" err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sz="8000" i="1" dirty="0" err="1"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</a:rPr>
                            <m:t>𝑓</m:t>
                          </m:r>
                        </m:e>
                        <m:sub>
                          <m:r>
                            <a:rPr lang="en-US" sz="8000" i="1" dirty="0" err="1"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  <m:r>
                        <a:rPr lang="en-US" sz="8000" i="1" dirty="0" err="1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lang="en-US" sz="8000" i="1" dirty="0" err="1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lang="en-US" sz="8000" i="1" dirty="0" err="1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</a:rPr>
                        <m:t>): </m:t>
                      </m:r>
                      <m:r>
                        <a:rPr lang="en-US" sz="8000" i="1" dirty="0" err="1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</a:rPr>
                        <m:t>𝐶𝑎𝑟𝑏𝑜𝑛</m:t>
                      </m:r>
                      <m:r>
                        <a:rPr lang="en-US" sz="8000" i="1" dirty="0" err="1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</a:rPr>
                        <m:t> </m:t>
                      </m:r>
                      <m:r>
                        <a:rPr lang="en-US" sz="8000" i="1" dirty="0" err="1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</a:rPr>
                        <m:t>𝑒𝑚𝑖𝑠𝑠𝑖𝑜𝑛</m:t>
                      </m:r>
                    </m:oMath>
                  </m:oMathPara>
                </a14:m>
                <a:endParaRPr lang="en-US" sz="8000" i="1" dirty="0" err="1"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</a:endParaRPr>
              </a:p>
              <a:p>
                <a:pPr indent="0" fontAlgn="auto">
                  <a:lnSpc>
                    <a:spcPct val="105000"/>
                  </a:lnSpc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8000" i="1" dirty="0" err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sz="8000" i="1" dirty="0" err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𝑓</m:t>
                        </m:r>
                      </m:e>
                      <m:sub>
                        <m:r>
                          <a:rPr lang="en-US" sz="8000" i="1" dirty="0" err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2</m:t>
                        </m:r>
                      </m:sub>
                    </m:sSub>
                    <m:r>
                      <a:rPr lang="en-US" sz="8000" i="1" dirty="0" err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(</m:t>
                    </m:r>
                    <m:r>
                      <a:rPr lang="en-US" sz="8000" i="1" dirty="0" err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𝑥</m:t>
                    </m:r>
                    <m:r>
                      <a:rPr lang="en-US" sz="8000" i="1" dirty="0" err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): </m:t>
                    </m:r>
                    <m:r>
                      <a:rPr lang="en-US" sz="8000" i="1" dirty="0" err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𝐶𝑜𝑠𝑡</m:t>
                    </m:r>
                    <m:r>
                      <a:rPr lang="en-US" sz="8000" i="1" dirty="0" err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 (</m:t>
                    </m:r>
                    <m:r>
                      <a:rPr lang="en-US" sz="8000" i="1" dirty="0" err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𝑜𝑝𝑒𝑟𝑎𝑡𝑖𝑜𝑛𝑎𝑙</m:t>
                    </m:r>
                    <m:r>
                      <a:rPr lang="en-US" sz="8000" i="1" dirty="0" err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 </m:t>
                    </m:r>
                    <m:r>
                      <a:rPr lang="en-US" sz="8000" i="1" dirty="0" err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𝑐𝑜𝑠𝑡</m:t>
                    </m:r>
                    <m:r>
                      <a:rPr lang="en-US" sz="8000" i="1" dirty="0" err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, </m:t>
                    </m:r>
                  </m:oMath>
                </a14:m>
                <a:r>
                  <a:rPr lang="en-US" sz="8000" i="1" dirty="0" err="1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depreciation cost, etc.</a:t>
                </a:r>
                <a:r>
                  <a:rPr lang="en-US" sz="8000" dirty="0" err="1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)</a:t>
                </a:r>
                <a:endParaRPr lang="en-US" sz="8000" i="1" dirty="0" err="1"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</a:endParaRPr>
              </a:p>
              <a:p>
                <a:pPr indent="0" fontAlgn="auto">
                  <a:lnSpc>
                    <a:spcPct val="105000"/>
                  </a:lnSpc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 dirty="0" err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sz="8000" i="1" dirty="0" err="1"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</a:rPr>
                            <m:t>𝑓</m:t>
                          </m:r>
                        </m:e>
                        <m:sub>
                          <m:r>
                            <a:rPr lang="en-US" sz="8000" i="1" dirty="0" err="1"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  <m:r>
                        <a:rPr lang="en-US" sz="8000" i="1" dirty="0" err="1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lang="en-US" sz="8000" i="1" dirty="0" err="1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lang="en-US" sz="8000" i="1" dirty="0" err="1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</a:rPr>
                        <m:t>): </m:t>
                      </m:r>
                      <m:r>
                        <a:rPr lang="en-US" sz="8000" i="1" dirty="0" err="1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</a:rPr>
                        <m:t>𝐸𝑓𝑓𝑖𝑐𝑖𝑒𝑛𝑐𝑦</m:t>
                      </m:r>
                      <m:r>
                        <a:rPr lang="en-US" sz="8000" i="1" dirty="0" err="1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</a:rPr>
                        <m:t> </m:t>
                      </m:r>
                      <m:r>
                        <a:rPr lang="en-US" sz="8000" i="1" dirty="0" err="1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</a:rPr>
                        <m:t>𝑜𝑓</m:t>
                      </m:r>
                      <m:r>
                        <a:rPr lang="en-US" sz="8000" i="1" dirty="0" err="1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</a:rPr>
                        <m:t> </m:t>
                      </m:r>
                      <m:r>
                        <a:rPr lang="en-US" sz="8000" i="1" dirty="0" err="1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</a:rPr>
                        <m:t>𝑝𝑟𝑜𝑑𝑢𝑐𝑡𝑖𝑜𝑛</m:t>
                      </m:r>
                    </m:oMath>
                  </m:oMathPara>
                </a14:m>
                <a:endParaRPr lang="en-US" sz="8000" dirty="0" err="1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1143000" indent="-1143000" fontAlgn="auto">
                  <a:lnSpc>
                    <a:spcPct val="105000"/>
                  </a:lnSpc>
                  <a:buFont typeface="Arial" panose="020B0604020202020204" pitchFamily="34" charset="0"/>
                  <a:buChar char="•"/>
                </a:pPr>
                <a:r>
                  <a:rPr lang="en-US" sz="8000" b="1" dirty="0" err="1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Constraint</a:t>
                </a:r>
              </a:p>
              <a:p>
                <a:pPr indent="0" fontAlgn="auto">
                  <a:lnSpc>
                    <a:spcPct val="105000"/>
                  </a:lnSpc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8000" i="1" dirty="0" err="1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</a:rPr>
                        <m:t>𝑠</m:t>
                      </m:r>
                      <m:r>
                        <a:rPr lang="en-US" sz="8000" i="1" dirty="0" err="1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</a:rPr>
                        <m:t>.</m:t>
                      </m:r>
                      <m:r>
                        <a:rPr lang="en-US" sz="8000" i="1" dirty="0" err="1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</a:rPr>
                        <m:t>𝑡</m:t>
                      </m:r>
                      <m:r>
                        <a:rPr lang="en-US" sz="8000" i="1" dirty="0" err="1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</a:rPr>
                        <m:t>.: </m:t>
                      </m:r>
                      <m:r>
                        <a:rPr lang="en-US" sz="8000" i="1" dirty="0" err="1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</a:rPr>
                        <m:t>𝜌</m:t>
                      </m:r>
                      <m:r>
                        <a:rPr lang="en-US" sz="8000" i="1" dirty="0" err="1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lang="en-US" sz="8000" i="1" dirty="0" err="1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lang="en-US" sz="8000" i="1" dirty="0" err="1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</a:rPr>
                        <m:t>)&gt;</m:t>
                      </m:r>
                      <m:r>
                        <a:rPr lang="en-US" sz="8000" i="1" dirty="0" err="1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</a:rPr>
                        <m:t>𝑎</m:t>
                      </m:r>
                      <m:r>
                        <a:rPr lang="en-US" sz="8000" i="1" dirty="0" err="1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</a:rPr>
                        <m:t> </m:t>
                      </m:r>
                    </m:oMath>
                  </m:oMathPara>
                </a14:m>
                <a:endParaRPr lang="en-US" sz="8000" i="1" dirty="0" err="1"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</a:endParaRPr>
              </a:p>
              <a:p>
                <a:pPr marL="1143000" indent="-1143000" fontAlgn="auto">
                  <a:lnSpc>
                    <a:spcPct val="105000"/>
                  </a:lnSpc>
                  <a:buFont typeface="Arial" panose="020B0604020202020204" pitchFamily="34" charset="0"/>
                  <a:buChar char="•"/>
                </a:pPr>
                <a:r>
                  <a:rPr lang="en-US" sz="8000" b="1" dirty="0" err="1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Uncertain</a:t>
                </a:r>
              </a:p>
              <a:p>
                <a:pPr indent="0" fontAlgn="auto">
                  <a:lnSpc>
                    <a:spcPct val="105000"/>
                  </a:lnSpc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8000" dirty="0" err="1"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+mn-ea"/>
                        </a:rPr>
                        <m:t>𝑝𝑜𝑤𝑒𝑟</m:t>
                      </m:r>
                      <m:r>
                        <a:rPr lang="en-US" sz="8000" dirty="0" err="1"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+mn-ea"/>
                        </a:rPr>
                        <m:t> </m:t>
                      </m:r>
                      <m:r>
                        <a:rPr lang="en-US" sz="8000" dirty="0" err="1"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+mn-ea"/>
                        </a:rPr>
                        <m:t>𝑟𝑎𝑡</m:t>
                      </m:r>
                      <m:r>
                        <m:rPr>
                          <m:sty m:val="p"/>
                        </m:rPr>
                        <a:rPr lang="en-US" sz="8000" dirty="0" err="1"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+mn-ea"/>
                        </a:rPr>
                        <m:t>e</m:t>
                      </m:r>
                      <m:r>
                        <a:rPr lang="en-US" sz="8000" dirty="0" err="1"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+mn-ea"/>
                        </a:rPr>
                        <m:t> ∈[</m:t>
                      </m:r>
                      <m:r>
                        <m:rPr>
                          <m:sty m:val="p"/>
                        </m:rPr>
                        <a:rPr lang="en-US" sz="8000" dirty="0" err="1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  <a:sym typeface="+mn-ea"/>
                        </a:rPr>
                        <m:t>c</m:t>
                      </m:r>
                      <m:r>
                        <a:rPr lang="en-US" sz="8000" dirty="0" err="1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  <a:sym typeface="+mn-ea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sz="8000" dirty="0" err="1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  <a:sym typeface="+mn-ea"/>
                        </a:rPr>
                        <m:t>d</m:t>
                      </m:r>
                      <m:r>
                        <a:rPr lang="en-US" sz="8000" dirty="0" err="1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  <a:sym typeface="+mn-ea"/>
                        </a:rPr>
                        <m:t>]</m:t>
                      </m:r>
                    </m:oMath>
                  </m:oMathPara>
                </a14:m>
                <a:endParaRPr lang="en-US" sz="8000" dirty="0" err="1"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  <a:sym typeface="+mn-ea"/>
                </a:endParaRPr>
              </a:p>
              <a:p>
                <a:pPr indent="0" fontAlgn="auto">
                  <a:lnSpc>
                    <a:spcPct val="105000"/>
                  </a:lnSpc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8000" dirty="0" err="1"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+mn-ea"/>
                        </a:rPr>
                        <m:t>recycling</m:t>
                      </m:r>
                      <m:r>
                        <a:rPr lang="en-US" sz="8000" dirty="0" err="1"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+mn-ea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8000" dirty="0" err="1"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+mn-ea"/>
                        </a:rPr>
                        <m:t>rate</m:t>
                      </m:r>
                      <m:r>
                        <a:rPr lang="en-US" sz="8000" dirty="0" err="1"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+mn-ea"/>
                        </a:rPr>
                        <m:t> ∈[</m:t>
                      </m:r>
                      <m:r>
                        <m:rPr>
                          <m:sty m:val="p"/>
                        </m:rPr>
                        <a:rPr lang="en-US" sz="8000" dirty="0" err="1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  <a:sym typeface="+mn-ea"/>
                        </a:rPr>
                        <m:t>e</m:t>
                      </m:r>
                      <m:r>
                        <a:rPr lang="en-US" sz="8000" dirty="0" err="1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  <a:sym typeface="+mn-ea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sz="8000" dirty="0" err="1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  <a:sym typeface="+mn-ea"/>
                        </a:rPr>
                        <m:t>f</m:t>
                      </m:r>
                      <m:r>
                        <a:rPr lang="en-US" sz="8000" dirty="0" err="1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  <a:sym typeface="+mn-ea"/>
                        </a:rPr>
                        <m:t>]</m:t>
                      </m:r>
                    </m:oMath>
                  </m:oMathPara>
                </a14:m>
                <a:endParaRPr lang="en-US" sz="8000" dirty="0" err="1"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  <a:sym typeface="+mn-ea"/>
                </a:endParaRPr>
              </a:p>
              <a:p>
                <a:pPr indent="0" fontAlgn="auto">
                  <a:lnSpc>
                    <a:spcPct val="105000"/>
                  </a:lnSpc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8000" dirty="0" err="1"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+mn-ea"/>
                        </a:rPr>
                        <m:t>cost</m:t>
                      </m:r>
                      <m:r>
                        <a:rPr lang="en-US" sz="8000" dirty="0" err="1"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+mn-ea"/>
                        </a:rPr>
                        <m:t> ∈[</m:t>
                      </m:r>
                      <m:r>
                        <m:rPr>
                          <m:sty m:val="p"/>
                        </m:rPr>
                        <a:rPr lang="en-US" sz="8000" dirty="0" err="1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  <a:sym typeface="+mn-ea"/>
                        </a:rPr>
                        <m:t>g</m:t>
                      </m:r>
                      <m:r>
                        <a:rPr lang="en-US" sz="8000" dirty="0" err="1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  <a:sym typeface="+mn-ea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sz="8000" dirty="0" err="1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  <a:sym typeface="+mn-ea"/>
                        </a:rPr>
                        <m:t>h</m:t>
                      </m:r>
                      <m:r>
                        <a:rPr lang="en-US" sz="8000" dirty="0" err="1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  <a:sym typeface="+mn-ea"/>
                        </a:rPr>
                        <m:t>]</m:t>
                      </m:r>
                    </m:oMath>
                  </m:oMathPara>
                </a14:m>
                <a:endParaRPr lang="en-US" sz="8000" dirty="0" err="1"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  <a:sym typeface="+mn-ea"/>
                </a:endParaRPr>
              </a:p>
              <a:p>
                <a:pPr indent="0" fontAlgn="auto">
                  <a:lnSpc>
                    <a:spcPct val="105000"/>
                  </a:lnSpc>
                  <a:buFont typeface="Arial" panose="020B0604020202020204" pitchFamily="34" charset="0"/>
                  <a:buNone/>
                </a:pPr>
                <a:r>
                  <a:rPr lang="en-US" sz="8000" dirty="0" err="1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  <a:sym typeface="+mn-ea"/>
                  </a:rPr>
                  <a:t>etc.</a:t>
                </a:r>
              </a:p>
              <a:p>
                <a:pPr indent="0" fontAlgn="auto">
                  <a:lnSpc>
                    <a:spcPct val="105000"/>
                  </a:lnSpc>
                  <a:buFont typeface="Arial" panose="020B0604020202020204" pitchFamily="34" charset="0"/>
                  <a:buNone/>
                </a:pPr>
                <a:endParaRPr lang="en-US" sz="8000" b="1" dirty="0" err="1"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  <a:sym typeface="+mn-ea"/>
                </a:endParaRP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2180" y="3057525"/>
                <a:ext cx="24258905" cy="14584045"/>
              </a:xfrm>
              <a:prstGeom prst="rect">
                <a:avLst/>
              </a:prstGeom>
              <a:blipFill rotWithShape="1">
                <a:blip r:embed="rId3"/>
                <a:stretch>
                  <a:fillRect b="-86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右大括号 3"/>
          <p:cNvSpPr/>
          <p:nvPr/>
        </p:nvSpPr>
        <p:spPr>
          <a:xfrm>
            <a:off x="28139390" y="3862705"/>
            <a:ext cx="1320165" cy="6249035"/>
          </a:xfrm>
          <a:prstGeom prst="rightBrace">
            <a:avLst>
              <a:gd name="adj1" fmla="val 8333"/>
              <a:gd name="adj2" fmla="val 50690"/>
            </a:avLst>
          </a:prstGeom>
          <a:ln w="635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0052010" y="2794000"/>
            <a:ext cx="4939030" cy="83858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8800">
                <a:latin typeface="楷体" panose="02010609060101010101" pitchFamily="49" charset="-122"/>
                <a:ea typeface="楷体" panose="02010609060101010101" pitchFamily="49" charset="-122"/>
              </a:rPr>
              <a:t>所建立的模型的自变量应与工艺参数</a:t>
            </a:r>
            <a:r>
              <a:rPr lang="en-US" altLang="zh-CN" sz="8800">
                <a:latin typeface="Times New Roman" panose="02020603050405020304" pitchFamily="18" charset="0"/>
                <a:ea typeface="楷体" panose="02010609060101010101" pitchFamily="49" charset="-122"/>
              </a:rPr>
              <a:t>P, V, H, E</a:t>
            </a:r>
            <a:r>
              <a:rPr lang="zh-CN" altLang="en-US" sz="8800">
                <a:latin typeface="Times New Roman" panose="02020603050405020304" pitchFamily="18" charset="0"/>
                <a:ea typeface="楷体" panose="02010609060101010101" pitchFamily="49" charset="-122"/>
              </a:rPr>
              <a:t>相关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DA75-3C22-4B54-ACF8-63972908B486}" type="slidenum">
              <a:rPr lang="zh-CN" altLang="en-US" smtClean="0"/>
              <a:t>9</a:t>
            </a:fld>
            <a:endParaRPr lang="zh-CN" altLang="en-US" dirty="0"/>
          </a:p>
        </p:txBody>
      </p:sp>
      <p:cxnSp>
        <p:nvCxnSpPr>
          <p:cNvPr id="12" name="直接连接符 11"/>
          <p:cNvCxnSpPr/>
          <p:nvPr/>
        </p:nvCxnSpPr>
        <p:spPr>
          <a:xfrm flipH="1">
            <a:off x="2456180" y="11464925"/>
            <a:ext cx="1016000" cy="0"/>
          </a:xfrm>
          <a:prstGeom prst="line">
            <a:avLst/>
          </a:prstGeom>
          <a:ln w="95250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flipH="1">
            <a:off x="2456180" y="3738245"/>
            <a:ext cx="1016000" cy="0"/>
          </a:xfrm>
          <a:prstGeom prst="line">
            <a:avLst/>
          </a:prstGeom>
          <a:ln w="95250" cmpd="sng">
            <a:solidFill>
              <a:srgbClr val="C00000"/>
            </a:solidFill>
            <a:prstDash val="solid"/>
            <a:headEnd type="stealth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2506980" y="3712845"/>
            <a:ext cx="0" cy="7788910"/>
          </a:xfrm>
          <a:prstGeom prst="line">
            <a:avLst/>
          </a:prstGeom>
          <a:ln w="95250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汕大校徽940x29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9280" y="-1"/>
            <a:ext cx="9775011" cy="3057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/>
          <p:cNvSpPr txBox="1"/>
          <p:nvPr/>
        </p:nvSpPr>
        <p:spPr>
          <a:xfrm>
            <a:off x="1998980" y="3114675"/>
            <a:ext cx="29585285" cy="131413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1143000" indent="-1143000" fontAlgn="auto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en-US" sz="80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Two-stage</a:t>
            </a:r>
          </a:p>
          <a:p>
            <a:pPr indent="0" fontAlgn="auto">
              <a:lnSpc>
                <a:spcPct val="105000"/>
              </a:lnSpc>
              <a:buFont typeface="Arial" panose="020B0604020202020204" pitchFamily="34" charset="0"/>
              <a:buNone/>
            </a:pPr>
            <a:endParaRPr lang="en-US" sz="8000" b="1" dirty="0" err="1">
              <a:latin typeface="Cambria Math" panose="02040503050406030204" charset="0"/>
              <a:ea typeface="楷体" panose="02010609060101010101" pitchFamily="49" charset="-122"/>
              <a:cs typeface="Cambria Math" panose="02040503050406030204" charset="0"/>
              <a:sym typeface="+mn-ea"/>
            </a:endParaRPr>
          </a:p>
          <a:p>
            <a:pPr indent="0" fontAlgn="auto">
              <a:lnSpc>
                <a:spcPct val="105000"/>
              </a:lnSpc>
              <a:buFont typeface="Arial" panose="020B0604020202020204" pitchFamily="34" charset="0"/>
              <a:buNone/>
            </a:pPr>
            <a:endParaRPr lang="en-US" sz="8000" b="1" dirty="0" err="1">
              <a:latin typeface="Cambria Math" panose="02040503050406030204" charset="0"/>
              <a:ea typeface="楷体" panose="02010609060101010101" pitchFamily="49" charset="-122"/>
              <a:cs typeface="Cambria Math" panose="02040503050406030204" charset="0"/>
              <a:sym typeface="+mn-ea"/>
            </a:endParaRPr>
          </a:p>
          <a:p>
            <a:pPr indent="0" fontAlgn="auto">
              <a:lnSpc>
                <a:spcPct val="105000"/>
              </a:lnSpc>
              <a:buFont typeface="Arial" panose="020B0604020202020204" pitchFamily="34" charset="0"/>
              <a:buNone/>
            </a:pPr>
            <a:endParaRPr lang="en-US" sz="8000" b="1" dirty="0" err="1">
              <a:latin typeface="Cambria Math" panose="02040503050406030204" charset="0"/>
              <a:ea typeface="楷体" panose="02010609060101010101" pitchFamily="49" charset="-122"/>
              <a:cs typeface="Cambria Math" panose="02040503050406030204" charset="0"/>
              <a:sym typeface="+mn-ea"/>
            </a:endParaRPr>
          </a:p>
          <a:p>
            <a:pPr indent="0" fontAlgn="auto">
              <a:lnSpc>
                <a:spcPct val="105000"/>
              </a:lnSpc>
              <a:buFont typeface="Arial" panose="020B0604020202020204" pitchFamily="34" charset="0"/>
              <a:buNone/>
            </a:pPr>
            <a:endParaRPr lang="en-US" sz="8000" b="1" dirty="0" err="1">
              <a:latin typeface="Cambria Math" panose="02040503050406030204" charset="0"/>
              <a:ea typeface="楷体" panose="02010609060101010101" pitchFamily="49" charset="-122"/>
              <a:cs typeface="Cambria Math" panose="02040503050406030204" charset="0"/>
              <a:sym typeface="+mn-ea"/>
            </a:endParaRPr>
          </a:p>
          <a:p>
            <a:pPr indent="0" fontAlgn="auto">
              <a:lnSpc>
                <a:spcPct val="105000"/>
              </a:lnSpc>
              <a:buFont typeface="Arial" panose="020B0604020202020204" pitchFamily="34" charset="0"/>
              <a:buNone/>
            </a:pPr>
            <a:endParaRPr lang="en-US" sz="8000" b="1" dirty="0" err="1">
              <a:latin typeface="Cambria Math" panose="02040503050406030204" charset="0"/>
              <a:ea typeface="楷体" panose="02010609060101010101" pitchFamily="49" charset="-122"/>
              <a:cs typeface="Cambria Math" panose="02040503050406030204" charset="0"/>
              <a:sym typeface="+mn-ea"/>
            </a:endParaRPr>
          </a:p>
          <a:p>
            <a:pPr indent="0" fontAlgn="auto">
              <a:lnSpc>
                <a:spcPct val="105000"/>
              </a:lnSpc>
              <a:buFont typeface="Arial" panose="020B0604020202020204" pitchFamily="34" charset="0"/>
              <a:buNone/>
            </a:pPr>
            <a:endParaRPr lang="en-US" sz="8000" b="1" dirty="0" err="1">
              <a:latin typeface="Cambria Math" panose="02040503050406030204" charset="0"/>
              <a:ea typeface="楷体" panose="02010609060101010101" pitchFamily="49" charset="-122"/>
              <a:cs typeface="Cambria Math" panose="02040503050406030204" charset="0"/>
              <a:sym typeface="+mn-ea"/>
            </a:endParaRPr>
          </a:p>
          <a:p>
            <a:pPr indent="0" fontAlgn="auto">
              <a:lnSpc>
                <a:spcPct val="105000"/>
              </a:lnSpc>
              <a:buFont typeface="Arial" panose="020B0604020202020204" pitchFamily="34" charset="0"/>
              <a:buNone/>
            </a:pPr>
            <a:endParaRPr lang="en-US" sz="8000" b="1" dirty="0" err="1">
              <a:latin typeface="Cambria Math" panose="02040503050406030204" charset="0"/>
              <a:ea typeface="楷体" panose="02010609060101010101" pitchFamily="49" charset="-122"/>
              <a:cs typeface="Cambria Math" panose="02040503050406030204" charset="0"/>
              <a:sym typeface="+mn-ea"/>
            </a:endParaRPr>
          </a:p>
          <a:p>
            <a:pPr indent="0" fontAlgn="auto">
              <a:lnSpc>
                <a:spcPct val="105000"/>
              </a:lnSpc>
              <a:buFont typeface="Arial" panose="020B0604020202020204" pitchFamily="34" charset="0"/>
              <a:buNone/>
            </a:pPr>
            <a:r>
              <a:rPr lang="en-US" sz="480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[1] Wang M, Yu H, Lin X, et al. Comparing stochastic programming with posteriori approach for multi-objective 						optimization of distributed energy systems under uncertainty[J]. Energy, 2020, 210: 118571.</a:t>
            </a:r>
          </a:p>
          <a:p>
            <a:pPr indent="0" fontAlgn="auto">
              <a:lnSpc>
                <a:spcPct val="105000"/>
              </a:lnSpc>
              <a:buFont typeface="Arial" panose="020B0604020202020204" pitchFamily="34" charset="0"/>
              <a:buNone/>
            </a:pPr>
            <a:endParaRPr lang="en-US" sz="4800" dirty="0" err="1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DA75-3C22-4B54-ACF8-63972908B486}" type="slidenum">
              <a:rPr lang="zh-CN" altLang="en-US" smtClean="0"/>
              <a:t>10</a:t>
            </a:fld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7445" y="5260340"/>
            <a:ext cx="21005165" cy="651383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汕大校徽940x29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9280" y="0"/>
            <a:ext cx="9775011" cy="3057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/>
          <p:cNvSpPr txBox="1"/>
          <p:nvPr/>
        </p:nvSpPr>
        <p:spPr>
          <a:xfrm>
            <a:off x="1998980" y="3057527"/>
            <a:ext cx="26391870" cy="145840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1143000" indent="-1143000" fontAlgn="auto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en-US" sz="80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Optimization algorithm &amp; output</a:t>
            </a:r>
          </a:p>
          <a:p>
            <a:pPr marL="2057400" lvl="2" indent="-1143000" fontAlgn="auto">
              <a:lnSpc>
                <a:spcPct val="105000"/>
              </a:lnSpc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800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AUGMECOM-R</a:t>
            </a:r>
          </a:p>
          <a:p>
            <a:pPr marL="2057400" lvl="2" indent="-1143000" fontAlgn="auto">
              <a:lnSpc>
                <a:spcPct val="105000"/>
              </a:lnSpc>
              <a:buFont typeface="Arial" panose="020B0604020202020204" pitchFamily="34" charset="0"/>
              <a:buChar char="•"/>
            </a:pPr>
            <a:endParaRPr lang="en-US" sz="8000" dirty="0" err="1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DA75-3C22-4B54-ACF8-63972908B486}" type="slidenum">
              <a:rPr lang="zh-CN" altLang="en-US" smtClean="0"/>
              <a:t>11</a:t>
            </a:fld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8980" y="5786120"/>
            <a:ext cx="13611860" cy="1132014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rcRect l="18745" t="15572" r="4005"/>
          <a:stretch>
            <a:fillRect/>
          </a:stretch>
        </p:blipFill>
        <p:spPr>
          <a:xfrm>
            <a:off x="16141065" y="6042025"/>
            <a:ext cx="17383760" cy="965327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2M1YTk1NWFkN2UyMDQ2N2UzNjcxYTVmOWY3MmY2ZTUifQ==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430</TotalTime>
  <Words>1325</Words>
  <Application>Microsoft Office PowerPoint</Application>
  <PresentationFormat>自定义</PresentationFormat>
  <Paragraphs>821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8" baseType="lpstr">
      <vt:lpstr>楷体</vt:lpstr>
      <vt:lpstr>Arial</vt:lpstr>
      <vt:lpstr>Calibri</vt:lpstr>
      <vt:lpstr>Calibri Light</vt:lpstr>
      <vt:lpstr>Cambria Math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1 23</dc:creator>
  <cp:lastModifiedBy>3605188700@qq.com</cp:lastModifiedBy>
  <cp:revision>49</cp:revision>
  <dcterms:created xsi:type="dcterms:W3CDTF">2024-03-21T07:05:00Z</dcterms:created>
  <dcterms:modified xsi:type="dcterms:W3CDTF">2025-12-08T05:21:49Z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75227C8F76C6433EA3DE49C1F9036F7A_12</vt:lpwstr>
  </property>
  <property fmtid="{D5CDD505-2E9C-101B-9397-08002B2CF9AE}" pid="3" name="KSOProductBuildVer">
    <vt:lpwstr>2052-12.1.0.16729</vt:lpwstr>
  </property>
</Properties>
</file>